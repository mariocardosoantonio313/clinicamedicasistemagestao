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6256000" cy="9144000"/>
  <p:notesSz cx="9144000" cy="16256000"/>
  <p:embeddedFontLst>
    <p:embeddedFont>
      <p:font typeface="Quattrocento Sans" charset="-122" pitchFamily="34"/>
      <p:regular r:id="rId2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94000"/>
            <a:ext cx="2540000" cy="5080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30480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Sistema de Gestão de Clínica Médica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048000" y="4826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E8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Relatório de Línguagem de Programação IV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223000" y="5588000"/>
            <a:ext cx="3810000" cy="127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048000" y="5842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Licenciatura em Engenharia Informática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Universidade Kimpa Vita | 2026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1B5E5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ÍNDICE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333500"/>
            <a:ext cx="762000" cy="5080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905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51000" y="19939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Introdução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667000"/>
            <a:ext cx="4318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921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651000" y="30099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Objetivos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3683000"/>
            <a:ext cx="4318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3937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651000" y="40259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Fundamentação Teórica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4699000"/>
            <a:ext cx="4318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Text 11"/>
          <p:cNvSpPr/>
          <p:nvPr/>
        </p:nvSpPr>
        <p:spPr>
          <a:xfrm>
            <a:off x="5969000" y="1905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858000" y="19939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Requisitos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969000" y="2667000"/>
            <a:ext cx="4318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" name="Text 14"/>
          <p:cNvSpPr/>
          <p:nvPr/>
        </p:nvSpPr>
        <p:spPr>
          <a:xfrm>
            <a:off x="5969000" y="2921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858000" y="30099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Modelagem do Sistema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969000" y="3683000"/>
            <a:ext cx="4318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9" name="Text 17"/>
          <p:cNvSpPr/>
          <p:nvPr/>
        </p:nvSpPr>
        <p:spPr>
          <a:xfrm>
            <a:off x="5969000" y="3937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858000" y="40259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Estrutura do Projeto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969000" y="4699000"/>
            <a:ext cx="4318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2" name="Text 20"/>
          <p:cNvSpPr/>
          <p:nvPr/>
        </p:nvSpPr>
        <p:spPr>
          <a:xfrm>
            <a:off x="11176000" y="1905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12065000" y="19939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Resultados e Conclusão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176000" y="2667000"/>
            <a:ext cx="4318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5" name="Shape 23"/>
          <p:cNvSpPr/>
          <p:nvPr/>
        </p:nvSpPr>
        <p:spPr>
          <a:xfrm>
            <a:off x="762000" y="5461000"/>
            <a:ext cx="14732000" cy="254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26" name="Text 24"/>
          <p:cNvSpPr/>
          <p:nvPr/>
        </p:nvSpPr>
        <p:spPr>
          <a:xfrm>
            <a:off x="762000" y="8255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B7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Universidade Kimpa Vita | Engenharia Informática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32000"/>
            <a:ext cx="381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62000" y="3683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Introdução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4445000"/>
            <a:ext cx="1016000" cy="5080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4699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Contexto e motivação do desenvolvimento do sistema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1B5E5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63D3D"/>
          </a:solidFill>
          <a:ln/>
        </p:spPr>
      </p:sp>
      <p:sp>
        <p:nvSpPr>
          <p:cNvPr id="3" name="Shape 1"/>
          <p:cNvSpPr/>
          <p:nvPr/>
        </p:nvSpPr>
        <p:spPr>
          <a:xfrm>
            <a:off x="127000" y="76200"/>
            <a:ext cx="2159000" cy="381000"/>
          </a:xfrm>
          <a:prstGeom prst="rect">
            <a:avLst/>
          </a:prstGeom>
          <a:solidFill>
            <a:srgbClr val="FFFFFF">
              <a:alpha val="12549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270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Introdução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4765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Objetivos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260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Fundamentação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755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Requisitos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Modelagem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745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Estrutura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224000" y="7620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Conclusão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7874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Contexto e Motivação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346200"/>
            <a:ext cx="635000" cy="3810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1651000"/>
            <a:ext cx="8890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Sistema de Gestão de Clínica Médica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foi desenvolvido em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utilizando a arquitetura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MVC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(Model-View-Controller) e base de dados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MySQL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objetivo principal é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digitalizar e automatizar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os processos de gestão de uma clínica médica, permitindo: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Gestão de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pacientes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médicos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consultas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prontuários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Geração de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relatórios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administrativos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Autenticação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 diferentes níveis de acesso: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Administrador  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Médico  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Recepcionista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160000" y="1651000"/>
            <a:ext cx="5334000" cy="393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60000" y="1651000"/>
            <a:ext cx="50800" cy="39370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16" name="Text 14"/>
          <p:cNvSpPr/>
          <p:nvPr/>
        </p:nvSpPr>
        <p:spPr>
          <a:xfrm>
            <a:off x="10541000" y="1905000"/>
            <a:ext cx="457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Tecnologias Utilizadas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41000" y="2476500"/>
            <a:ext cx="4572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Java (POO)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Arquitetura MVC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Padrão DAO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JDBC + MySQL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Java Swing (GUI)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8255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B7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Universidade Kimpa Vita | Engenharia Informática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732000" y="8255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B7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32000"/>
            <a:ext cx="381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62000" y="3683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Objetivos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4445000"/>
            <a:ext cx="1016000" cy="5080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4699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Objetivo geral e objetivos específicos do projeto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1B5E5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63D3D"/>
          </a:solidFill>
          <a:ln/>
        </p:spPr>
      </p:sp>
      <p:sp>
        <p:nvSpPr>
          <p:cNvPr id="3" name="Shape 1"/>
          <p:cNvSpPr/>
          <p:nvPr/>
        </p:nvSpPr>
        <p:spPr>
          <a:xfrm>
            <a:off x="2476500" y="76200"/>
            <a:ext cx="2159000" cy="381000"/>
          </a:xfrm>
          <a:prstGeom prst="rect">
            <a:avLst/>
          </a:prstGeom>
          <a:solidFill>
            <a:srgbClr val="FFFFFF">
              <a:alpha val="12549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270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Introdução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4765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Objetivos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260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Fundamentação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755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Requisitos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Modelagem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745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Estrutura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224000" y="7620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Conclusão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7874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Objetivos do Sistema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346200"/>
            <a:ext cx="635000" cy="3810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165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Objetivo Geral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2095500"/>
            <a:ext cx="14732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2000" y="2095500"/>
            <a:ext cx="50800" cy="10160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500" y="21590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Desenvolver um Sistema de Gestão de Clínica Médica que permita o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controlo eficiente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pacientes, médicos, consultas e prontuários, com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 gráfica intuitiva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persistência de dados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 base de dados relacional.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2000" y="3429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Objetivos Específicos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16000" y="4064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64770" y="76200"/>
                </a:moveTo>
                <a:cubicBezTo>
                  <a:pt x="64770" y="36773"/>
                  <a:pt x="90378" y="4763"/>
                  <a:pt x="121920" y="4763"/>
                </a:cubicBezTo>
                <a:cubicBezTo>
                  <a:pt x="153462" y="4763"/>
                  <a:pt x="179070" y="36773"/>
                  <a:pt x="179070" y="76200"/>
                </a:cubicBezTo>
                <a:cubicBezTo>
                  <a:pt x="179070" y="115627"/>
                  <a:pt x="153462" y="147638"/>
                  <a:pt x="121920" y="147638"/>
                </a:cubicBezTo>
                <a:cubicBezTo>
                  <a:pt x="90378" y="147638"/>
                  <a:pt x="64770" y="115627"/>
                  <a:pt x="64770" y="76200"/>
                </a:cubicBezTo>
                <a:close/>
                <a:moveTo>
                  <a:pt x="22860" y="287119"/>
                </a:moveTo>
                <a:cubicBezTo>
                  <a:pt x="22860" y="228481"/>
                  <a:pt x="60865" y="180975"/>
                  <a:pt x="107775" y="180975"/>
                </a:cubicBezTo>
                <a:lnTo>
                  <a:pt x="136065" y="180975"/>
                </a:lnTo>
                <a:cubicBezTo>
                  <a:pt x="182975" y="180975"/>
                  <a:pt x="220980" y="228481"/>
                  <a:pt x="220980" y="287119"/>
                </a:cubicBezTo>
                <a:cubicBezTo>
                  <a:pt x="220980" y="296882"/>
                  <a:pt x="214646" y="304800"/>
                  <a:pt x="206835" y="304800"/>
                </a:cubicBezTo>
                <a:lnTo>
                  <a:pt x="37005" y="304800"/>
                </a:lnTo>
                <a:cubicBezTo>
                  <a:pt x="29194" y="304800"/>
                  <a:pt x="22860" y="296882"/>
                  <a:pt x="22860" y="287119"/>
                </a:cubicBezTo>
                <a:close/>
                <a:moveTo>
                  <a:pt x="259080" y="57150"/>
                </a:moveTo>
                <a:cubicBezTo>
                  <a:pt x="265414" y="57150"/>
                  <a:pt x="270510" y="63520"/>
                  <a:pt x="270510" y="71438"/>
                </a:cubicBezTo>
                <a:lnTo>
                  <a:pt x="270510" y="100013"/>
                </a:lnTo>
                <a:lnTo>
                  <a:pt x="293370" y="100013"/>
                </a:lnTo>
                <a:cubicBezTo>
                  <a:pt x="299704" y="100013"/>
                  <a:pt x="304800" y="106382"/>
                  <a:pt x="304800" y="114300"/>
                </a:cubicBezTo>
                <a:cubicBezTo>
                  <a:pt x="304800" y="122218"/>
                  <a:pt x="299704" y="128588"/>
                  <a:pt x="293370" y="128588"/>
                </a:cubicBezTo>
                <a:lnTo>
                  <a:pt x="270510" y="128588"/>
                </a:lnTo>
                <a:lnTo>
                  <a:pt x="270510" y="157163"/>
                </a:lnTo>
                <a:cubicBezTo>
                  <a:pt x="270510" y="165080"/>
                  <a:pt x="265414" y="171450"/>
                  <a:pt x="259080" y="171450"/>
                </a:cubicBezTo>
                <a:cubicBezTo>
                  <a:pt x="252746" y="171450"/>
                  <a:pt x="247650" y="165080"/>
                  <a:pt x="247650" y="157163"/>
                </a:cubicBezTo>
                <a:lnTo>
                  <a:pt x="247650" y="128588"/>
                </a:lnTo>
                <a:lnTo>
                  <a:pt x="224790" y="128588"/>
                </a:lnTo>
                <a:cubicBezTo>
                  <a:pt x="218456" y="128588"/>
                  <a:pt x="213360" y="122218"/>
                  <a:pt x="213360" y="114300"/>
                </a:cubicBezTo>
                <a:cubicBezTo>
                  <a:pt x="213360" y="106382"/>
                  <a:pt x="218456" y="100013"/>
                  <a:pt x="224790" y="100013"/>
                </a:cubicBezTo>
                <a:lnTo>
                  <a:pt x="247650" y="100013"/>
                </a:lnTo>
                <a:lnTo>
                  <a:pt x="247650" y="71438"/>
                </a:lnTo>
                <a:cubicBezTo>
                  <a:pt x="247650" y="63520"/>
                  <a:pt x="252746" y="57150"/>
                  <a:pt x="259080" y="57150"/>
                </a:cubicBezTo>
                <a:close/>
              </a:path>
            </a:pathLst>
          </a:custGeom>
          <a:solidFill>
            <a:srgbClr val="1B5E5E"/>
          </a:solidFill>
          <a:ln/>
        </p:spPr>
      </p:sp>
      <p:sp>
        <p:nvSpPr>
          <p:cNvPr id="19" name="Text 17"/>
          <p:cNvSpPr/>
          <p:nvPr/>
        </p:nvSpPr>
        <p:spPr>
          <a:xfrm>
            <a:off x="1460500" y="4000500"/>
            <a:ext cx="5969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Cadastro e gestão de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pacientes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16000" y="4635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4763"/>
                </a:moveTo>
                <a:cubicBezTo>
                  <a:pt x="107340" y="4763"/>
                  <a:pt x="70757" y="36773"/>
                  <a:pt x="70757" y="76200"/>
                </a:cubicBezTo>
                <a:cubicBezTo>
                  <a:pt x="70757" y="115627"/>
                  <a:pt x="107340" y="147638"/>
                  <a:pt x="152400" y="147638"/>
                </a:cubicBezTo>
                <a:cubicBezTo>
                  <a:pt x="197460" y="147638"/>
                  <a:pt x="234043" y="115627"/>
                  <a:pt x="234043" y="76200"/>
                </a:cubicBezTo>
                <a:cubicBezTo>
                  <a:pt x="234043" y="36773"/>
                  <a:pt x="197460" y="4763"/>
                  <a:pt x="152400" y="4763"/>
                </a:cubicBezTo>
                <a:close/>
                <a:moveTo>
                  <a:pt x="193221" y="190976"/>
                </a:moveTo>
                <a:cubicBezTo>
                  <a:pt x="189548" y="190679"/>
                  <a:pt x="185737" y="190500"/>
                  <a:pt x="181927" y="190500"/>
                </a:cubicBezTo>
                <a:lnTo>
                  <a:pt x="122804" y="190500"/>
                </a:lnTo>
                <a:cubicBezTo>
                  <a:pt x="118994" y="190500"/>
                  <a:pt x="115252" y="190679"/>
                  <a:pt x="111511" y="190976"/>
                </a:cubicBezTo>
                <a:lnTo>
                  <a:pt x="111511" y="231160"/>
                </a:lnTo>
                <a:cubicBezTo>
                  <a:pt x="122736" y="235684"/>
                  <a:pt x="130561" y="245626"/>
                  <a:pt x="130561" y="257115"/>
                </a:cubicBezTo>
                <a:cubicBezTo>
                  <a:pt x="130561" y="272891"/>
                  <a:pt x="115933" y="285690"/>
                  <a:pt x="97903" y="285690"/>
                </a:cubicBezTo>
                <a:cubicBezTo>
                  <a:pt x="79874" y="285690"/>
                  <a:pt x="65246" y="272891"/>
                  <a:pt x="65246" y="257115"/>
                </a:cubicBezTo>
                <a:cubicBezTo>
                  <a:pt x="65246" y="245566"/>
                  <a:pt x="73070" y="235625"/>
                  <a:pt x="84296" y="231160"/>
                </a:cubicBezTo>
                <a:lnTo>
                  <a:pt x="84296" y="196394"/>
                </a:lnTo>
                <a:cubicBezTo>
                  <a:pt x="41502" y="210145"/>
                  <a:pt x="10886" y="246221"/>
                  <a:pt x="10886" y="288488"/>
                </a:cubicBezTo>
                <a:cubicBezTo>
                  <a:pt x="10886" y="297478"/>
                  <a:pt x="19254" y="304800"/>
                  <a:pt x="29527" y="304800"/>
                </a:cubicBezTo>
                <a:lnTo>
                  <a:pt x="275204" y="304800"/>
                </a:lnTo>
                <a:cubicBezTo>
                  <a:pt x="285478" y="304800"/>
                  <a:pt x="293846" y="297478"/>
                  <a:pt x="293846" y="288488"/>
                </a:cubicBezTo>
                <a:cubicBezTo>
                  <a:pt x="293846" y="246221"/>
                  <a:pt x="263230" y="210205"/>
                  <a:pt x="220368" y="196453"/>
                </a:cubicBezTo>
                <a:lnTo>
                  <a:pt x="220368" y="218718"/>
                </a:lnTo>
                <a:cubicBezTo>
                  <a:pt x="236220" y="223599"/>
                  <a:pt x="247582" y="236875"/>
                  <a:pt x="247582" y="252413"/>
                </a:cubicBezTo>
                <a:lnTo>
                  <a:pt x="247582" y="271463"/>
                </a:lnTo>
                <a:cubicBezTo>
                  <a:pt x="247582" y="278011"/>
                  <a:pt x="241459" y="283369"/>
                  <a:pt x="233975" y="283369"/>
                </a:cubicBezTo>
                <a:cubicBezTo>
                  <a:pt x="226491" y="283369"/>
                  <a:pt x="220368" y="278011"/>
                  <a:pt x="220368" y="271463"/>
                </a:cubicBezTo>
                <a:lnTo>
                  <a:pt x="220368" y="252413"/>
                </a:lnTo>
                <a:cubicBezTo>
                  <a:pt x="220368" y="245864"/>
                  <a:pt x="214244" y="240506"/>
                  <a:pt x="206761" y="240506"/>
                </a:cubicBezTo>
                <a:cubicBezTo>
                  <a:pt x="199277" y="240506"/>
                  <a:pt x="193153" y="245864"/>
                  <a:pt x="193153" y="252413"/>
                </a:cubicBezTo>
                <a:lnTo>
                  <a:pt x="193153" y="271463"/>
                </a:lnTo>
                <a:cubicBezTo>
                  <a:pt x="193153" y="278011"/>
                  <a:pt x="187030" y="283369"/>
                  <a:pt x="179546" y="283369"/>
                </a:cubicBezTo>
                <a:cubicBezTo>
                  <a:pt x="172062" y="283369"/>
                  <a:pt x="165939" y="278011"/>
                  <a:pt x="165939" y="271463"/>
                </a:cubicBezTo>
                <a:lnTo>
                  <a:pt x="165939" y="252413"/>
                </a:lnTo>
                <a:cubicBezTo>
                  <a:pt x="165939" y="236875"/>
                  <a:pt x="177301" y="223659"/>
                  <a:pt x="193153" y="218718"/>
                </a:cubicBezTo>
                <a:lnTo>
                  <a:pt x="193153" y="190976"/>
                </a:lnTo>
                <a:close/>
              </a:path>
            </a:pathLst>
          </a:custGeom>
          <a:solidFill>
            <a:srgbClr val="1B5E5E"/>
          </a:solidFill>
          <a:ln/>
        </p:spPr>
      </p:sp>
      <p:sp>
        <p:nvSpPr>
          <p:cNvPr id="21" name="Text 19"/>
          <p:cNvSpPr/>
          <p:nvPr/>
        </p:nvSpPr>
        <p:spPr>
          <a:xfrm>
            <a:off x="1460500" y="4572000"/>
            <a:ext cx="5969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Cadastro e gestão de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médicos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16000" y="5207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87086" y="0"/>
                </a:moveTo>
                <a:cubicBezTo>
                  <a:pt x="99128" y="0"/>
                  <a:pt x="108857" y="8513"/>
                  <a:pt x="108857" y="19050"/>
                </a:cubicBezTo>
                <a:lnTo>
                  <a:pt x="108857" y="38100"/>
                </a:lnTo>
                <a:lnTo>
                  <a:pt x="195943" y="38100"/>
                </a:lnTo>
                <a:lnTo>
                  <a:pt x="195943" y="19050"/>
                </a:lnTo>
                <a:cubicBezTo>
                  <a:pt x="195943" y="8513"/>
                  <a:pt x="205672" y="0"/>
                  <a:pt x="217714" y="0"/>
                </a:cubicBezTo>
                <a:cubicBezTo>
                  <a:pt x="229757" y="0"/>
                  <a:pt x="239486" y="8513"/>
                  <a:pt x="239486" y="19050"/>
                </a:cubicBezTo>
                <a:lnTo>
                  <a:pt x="239486" y="38100"/>
                </a:lnTo>
                <a:lnTo>
                  <a:pt x="261257" y="38100"/>
                </a:lnTo>
                <a:cubicBezTo>
                  <a:pt x="285274" y="38100"/>
                  <a:pt x="304800" y="55185"/>
                  <a:pt x="304800" y="76200"/>
                </a:cubicBezTo>
                <a:lnTo>
                  <a:pt x="304800" y="247650"/>
                </a:lnTo>
                <a:cubicBezTo>
                  <a:pt x="304800" y="268665"/>
                  <a:pt x="285274" y="285750"/>
                  <a:pt x="261257" y="285750"/>
                </a:cubicBezTo>
                <a:lnTo>
                  <a:pt x="43543" y="285750"/>
                </a:lnTo>
                <a:cubicBezTo>
                  <a:pt x="19526" y="285750"/>
                  <a:pt x="0" y="268665"/>
                  <a:pt x="0" y="247650"/>
                </a:cubicBezTo>
                <a:lnTo>
                  <a:pt x="0" y="76200"/>
                </a:lnTo>
                <a:cubicBezTo>
                  <a:pt x="0" y="55185"/>
                  <a:pt x="19526" y="38100"/>
                  <a:pt x="43543" y="38100"/>
                </a:cubicBezTo>
                <a:lnTo>
                  <a:pt x="65314" y="38100"/>
                </a:lnTo>
                <a:lnTo>
                  <a:pt x="65314" y="19050"/>
                </a:lnTo>
                <a:cubicBezTo>
                  <a:pt x="65314" y="8513"/>
                  <a:pt x="75043" y="0"/>
                  <a:pt x="87086" y="0"/>
                </a:cubicBezTo>
                <a:close/>
                <a:moveTo>
                  <a:pt x="209822" y="136148"/>
                </a:moveTo>
                <a:cubicBezTo>
                  <a:pt x="214585" y="129480"/>
                  <a:pt x="212271" y="120670"/>
                  <a:pt x="204651" y="116443"/>
                </a:cubicBezTo>
                <a:cubicBezTo>
                  <a:pt x="197031" y="112216"/>
                  <a:pt x="186962" y="114300"/>
                  <a:pt x="182132" y="120967"/>
                </a:cubicBezTo>
                <a:lnTo>
                  <a:pt x="140358" y="179487"/>
                </a:lnTo>
                <a:lnTo>
                  <a:pt x="121988" y="158055"/>
                </a:lnTo>
                <a:cubicBezTo>
                  <a:pt x="116545" y="151745"/>
                  <a:pt x="106340" y="150435"/>
                  <a:pt x="99128" y="155198"/>
                </a:cubicBezTo>
                <a:cubicBezTo>
                  <a:pt x="91916" y="159960"/>
                  <a:pt x="90419" y="168890"/>
                  <a:pt x="95862" y="175200"/>
                </a:cubicBezTo>
                <a:lnTo>
                  <a:pt x="128519" y="213300"/>
                </a:lnTo>
                <a:cubicBezTo>
                  <a:pt x="131717" y="217051"/>
                  <a:pt x="136888" y="219194"/>
                  <a:pt x="142263" y="219015"/>
                </a:cubicBezTo>
                <a:cubicBezTo>
                  <a:pt x="147637" y="218837"/>
                  <a:pt x="152536" y="216337"/>
                  <a:pt x="155394" y="212288"/>
                </a:cubicBezTo>
                <a:lnTo>
                  <a:pt x="209822" y="136088"/>
                </a:lnTo>
                <a:close/>
              </a:path>
            </a:pathLst>
          </a:custGeom>
          <a:solidFill>
            <a:srgbClr val="1B5E5E"/>
          </a:solidFill>
          <a:ln/>
        </p:spPr>
      </p:sp>
      <p:sp>
        <p:nvSpPr>
          <p:cNvPr id="23" name="Text 21"/>
          <p:cNvSpPr/>
          <p:nvPr/>
        </p:nvSpPr>
        <p:spPr>
          <a:xfrm>
            <a:off x="1460500" y="5143500"/>
            <a:ext cx="5969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Gerir o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agendamento de consultas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médicas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382000" y="4064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38100"/>
                </a:moveTo>
                <a:cubicBezTo>
                  <a:pt x="0" y="17085"/>
                  <a:pt x="22781" y="0"/>
                  <a:pt x="50800" y="0"/>
                </a:cubicBezTo>
                <a:lnTo>
                  <a:pt x="169466" y="0"/>
                </a:lnTo>
                <a:cubicBezTo>
                  <a:pt x="182959" y="0"/>
                  <a:pt x="195898" y="3989"/>
                  <a:pt x="205423" y="11132"/>
                </a:cubicBezTo>
                <a:lnTo>
                  <a:pt x="289957" y="74593"/>
                </a:lnTo>
                <a:cubicBezTo>
                  <a:pt x="299482" y="81736"/>
                  <a:pt x="304800" y="91440"/>
                  <a:pt x="304800" y="101560"/>
                </a:cubicBezTo>
                <a:lnTo>
                  <a:pt x="304800" y="266700"/>
                </a:lnTo>
                <a:cubicBezTo>
                  <a:pt x="304800" y="287715"/>
                  <a:pt x="282019" y="304800"/>
                  <a:pt x="254000" y="304800"/>
                </a:cubicBezTo>
                <a:lnTo>
                  <a:pt x="50800" y="304800"/>
                </a:lnTo>
                <a:cubicBezTo>
                  <a:pt x="22781" y="304800"/>
                  <a:pt x="0" y="287715"/>
                  <a:pt x="0" y="266700"/>
                </a:cubicBezTo>
                <a:lnTo>
                  <a:pt x="0" y="38100"/>
                </a:lnTo>
                <a:close/>
                <a:moveTo>
                  <a:pt x="165100" y="34826"/>
                </a:moveTo>
                <a:lnTo>
                  <a:pt x="165100" y="90488"/>
                </a:lnTo>
                <a:cubicBezTo>
                  <a:pt x="165100" y="98405"/>
                  <a:pt x="173593" y="104775"/>
                  <a:pt x="184150" y="104775"/>
                </a:cubicBezTo>
                <a:lnTo>
                  <a:pt x="258366" y="104775"/>
                </a:lnTo>
                <a:lnTo>
                  <a:pt x="165100" y="34826"/>
                </a:lnTo>
                <a:close/>
                <a:moveTo>
                  <a:pt x="127000" y="166688"/>
                </a:moveTo>
                <a:lnTo>
                  <a:pt x="127000" y="190500"/>
                </a:lnTo>
                <a:lnTo>
                  <a:pt x="95250" y="190500"/>
                </a:lnTo>
                <a:cubicBezTo>
                  <a:pt x="88265" y="190500"/>
                  <a:pt x="82550" y="194786"/>
                  <a:pt x="82550" y="200025"/>
                </a:cubicBezTo>
                <a:lnTo>
                  <a:pt x="82550" y="219075"/>
                </a:lnTo>
                <a:cubicBezTo>
                  <a:pt x="82550" y="224314"/>
                  <a:pt x="88265" y="228600"/>
                  <a:pt x="95250" y="228600"/>
                </a:cubicBezTo>
                <a:lnTo>
                  <a:pt x="127000" y="228600"/>
                </a:lnTo>
                <a:lnTo>
                  <a:pt x="127000" y="252413"/>
                </a:lnTo>
                <a:cubicBezTo>
                  <a:pt x="127000" y="257651"/>
                  <a:pt x="132715" y="261937"/>
                  <a:pt x="139700" y="261937"/>
                </a:cubicBezTo>
                <a:lnTo>
                  <a:pt x="165100" y="261937"/>
                </a:lnTo>
                <a:cubicBezTo>
                  <a:pt x="172085" y="261937"/>
                  <a:pt x="177800" y="257651"/>
                  <a:pt x="177800" y="252413"/>
                </a:cubicBezTo>
                <a:lnTo>
                  <a:pt x="177800" y="228600"/>
                </a:lnTo>
                <a:lnTo>
                  <a:pt x="209550" y="228600"/>
                </a:lnTo>
                <a:cubicBezTo>
                  <a:pt x="216535" y="228600"/>
                  <a:pt x="222250" y="224314"/>
                  <a:pt x="222250" y="219075"/>
                </a:cubicBezTo>
                <a:lnTo>
                  <a:pt x="222250" y="200025"/>
                </a:lnTo>
                <a:cubicBezTo>
                  <a:pt x="222250" y="194786"/>
                  <a:pt x="216535" y="190500"/>
                  <a:pt x="209550" y="190500"/>
                </a:cubicBezTo>
                <a:lnTo>
                  <a:pt x="177800" y="190500"/>
                </a:lnTo>
                <a:lnTo>
                  <a:pt x="177800" y="166688"/>
                </a:lnTo>
                <a:cubicBezTo>
                  <a:pt x="177800" y="161449"/>
                  <a:pt x="172085" y="157163"/>
                  <a:pt x="165100" y="157163"/>
                </a:cubicBezTo>
                <a:lnTo>
                  <a:pt x="139700" y="157163"/>
                </a:lnTo>
                <a:cubicBezTo>
                  <a:pt x="132715" y="157163"/>
                  <a:pt x="127000" y="161449"/>
                  <a:pt x="127000" y="166688"/>
                </a:cubicBezTo>
                <a:close/>
              </a:path>
            </a:pathLst>
          </a:custGeom>
          <a:solidFill>
            <a:srgbClr val="1B5E5E"/>
          </a:solidFill>
          <a:ln/>
        </p:spPr>
      </p:sp>
      <p:sp>
        <p:nvSpPr>
          <p:cNvPr id="25" name="Text 23"/>
          <p:cNvSpPr/>
          <p:nvPr/>
        </p:nvSpPr>
        <p:spPr>
          <a:xfrm>
            <a:off x="8826500" y="4000500"/>
            <a:ext cx="6223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Gerir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prontuários clínicos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dos pacientes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382000" y="4635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01600" y="57150"/>
                </a:moveTo>
                <a:lnTo>
                  <a:pt x="101600" y="95250"/>
                </a:lnTo>
                <a:lnTo>
                  <a:pt x="203200" y="95250"/>
                </a:lnTo>
                <a:lnTo>
                  <a:pt x="203200" y="57150"/>
                </a:lnTo>
                <a:cubicBezTo>
                  <a:pt x="203200" y="36135"/>
                  <a:pt x="180419" y="19050"/>
                  <a:pt x="152400" y="19050"/>
                </a:cubicBezTo>
                <a:cubicBezTo>
                  <a:pt x="124381" y="19050"/>
                  <a:pt x="101600" y="36135"/>
                  <a:pt x="101600" y="57150"/>
                </a:cubicBezTo>
                <a:close/>
                <a:moveTo>
                  <a:pt x="50800" y="95250"/>
                </a:moveTo>
                <a:lnTo>
                  <a:pt x="50800" y="57150"/>
                </a:lnTo>
                <a:cubicBezTo>
                  <a:pt x="50800" y="15061"/>
                  <a:pt x="96282" y="-19050"/>
                  <a:pt x="152400" y="-19050"/>
                </a:cubicBezTo>
                <a:cubicBezTo>
                  <a:pt x="208518" y="-19050"/>
                  <a:pt x="254000" y="15061"/>
                  <a:pt x="254000" y="57150"/>
                </a:cubicBezTo>
                <a:lnTo>
                  <a:pt x="254000" y="95250"/>
                </a:lnTo>
                <a:cubicBezTo>
                  <a:pt x="282019" y="95250"/>
                  <a:pt x="304800" y="112335"/>
                  <a:pt x="304800" y="133350"/>
                </a:cubicBezTo>
                <a:lnTo>
                  <a:pt x="304800" y="266700"/>
                </a:lnTo>
                <a:cubicBezTo>
                  <a:pt x="304800" y="287715"/>
                  <a:pt x="282019" y="304800"/>
                  <a:pt x="254000" y="304800"/>
                </a:cubicBezTo>
                <a:lnTo>
                  <a:pt x="50800" y="304800"/>
                </a:lnTo>
                <a:cubicBezTo>
                  <a:pt x="22781" y="304800"/>
                  <a:pt x="0" y="287715"/>
                  <a:pt x="0" y="266700"/>
                </a:cubicBezTo>
                <a:lnTo>
                  <a:pt x="0" y="133350"/>
                </a:lnTo>
                <a:cubicBezTo>
                  <a:pt x="0" y="112335"/>
                  <a:pt x="22781" y="95250"/>
                  <a:pt x="50800" y="95250"/>
                </a:cubicBezTo>
                <a:close/>
              </a:path>
            </a:pathLst>
          </a:custGeom>
          <a:solidFill>
            <a:srgbClr val="1B5E5E"/>
          </a:solidFill>
          <a:ln/>
        </p:spPr>
      </p:sp>
      <p:sp>
        <p:nvSpPr>
          <p:cNvPr id="27" name="Text 25"/>
          <p:cNvSpPr/>
          <p:nvPr/>
        </p:nvSpPr>
        <p:spPr>
          <a:xfrm>
            <a:off x="8826500" y="4572000"/>
            <a:ext cx="6223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Sistema de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autenticação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 perfis de acesso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382000" y="5207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19050"/>
                </a:moveTo>
                <a:cubicBezTo>
                  <a:pt x="29587" y="19050"/>
                  <a:pt x="38100" y="27563"/>
                  <a:pt x="38100" y="38100"/>
                </a:cubicBezTo>
                <a:lnTo>
                  <a:pt x="38100" y="238125"/>
                </a:lnTo>
                <a:cubicBezTo>
                  <a:pt x="38100" y="243364"/>
                  <a:pt x="42386" y="247650"/>
                  <a:pt x="47625" y="247650"/>
                </a:cubicBezTo>
                <a:lnTo>
                  <a:pt x="285750" y="247650"/>
                </a:lnTo>
                <a:cubicBezTo>
                  <a:pt x="296287" y="247650"/>
                  <a:pt x="304800" y="256163"/>
                  <a:pt x="304800" y="266700"/>
                </a:cubicBezTo>
                <a:cubicBezTo>
                  <a:pt x="304800" y="277237"/>
                  <a:pt x="296287" y="285750"/>
                  <a:pt x="285750" y="285750"/>
                </a:cubicBezTo>
                <a:lnTo>
                  <a:pt x="47625" y="285750"/>
                </a:lnTo>
                <a:cubicBezTo>
                  <a:pt x="21312" y="285750"/>
                  <a:pt x="0" y="264438"/>
                  <a:pt x="0" y="238125"/>
                </a:cubicBezTo>
                <a:lnTo>
                  <a:pt x="0" y="38100"/>
                </a:lnTo>
                <a:cubicBezTo>
                  <a:pt x="0" y="27563"/>
                  <a:pt x="8513" y="19050"/>
                  <a:pt x="19050" y="19050"/>
                </a:cubicBezTo>
                <a:close/>
                <a:moveTo>
                  <a:pt x="76200" y="57150"/>
                </a:moveTo>
                <a:cubicBezTo>
                  <a:pt x="76200" y="46613"/>
                  <a:pt x="84713" y="38100"/>
                  <a:pt x="95250" y="38100"/>
                </a:cubicBezTo>
                <a:lnTo>
                  <a:pt x="209550" y="38100"/>
                </a:lnTo>
                <a:cubicBezTo>
                  <a:pt x="220087" y="38100"/>
                  <a:pt x="228600" y="46613"/>
                  <a:pt x="228600" y="57150"/>
                </a:cubicBezTo>
                <a:cubicBezTo>
                  <a:pt x="228600" y="67687"/>
                  <a:pt x="220087" y="76200"/>
                  <a:pt x="209550" y="76200"/>
                </a:cubicBezTo>
                <a:lnTo>
                  <a:pt x="95250" y="76200"/>
                </a:lnTo>
                <a:cubicBezTo>
                  <a:pt x="84713" y="76200"/>
                  <a:pt x="76200" y="67687"/>
                  <a:pt x="76200" y="57150"/>
                </a:cubicBezTo>
                <a:close/>
                <a:moveTo>
                  <a:pt x="95250" y="104775"/>
                </a:moveTo>
                <a:lnTo>
                  <a:pt x="171450" y="104775"/>
                </a:lnTo>
                <a:cubicBezTo>
                  <a:pt x="181987" y="104775"/>
                  <a:pt x="190500" y="113288"/>
                  <a:pt x="190500" y="123825"/>
                </a:cubicBezTo>
                <a:cubicBezTo>
                  <a:pt x="190500" y="134362"/>
                  <a:pt x="181987" y="142875"/>
                  <a:pt x="171450" y="142875"/>
                </a:cubicBezTo>
                <a:lnTo>
                  <a:pt x="95250" y="142875"/>
                </a:lnTo>
                <a:cubicBezTo>
                  <a:pt x="84713" y="142875"/>
                  <a:pt x="76200" y="134362"/>
                  <a:pt x="76200" y="123825"/>
                </a:cubicBezTo>
                <a:cubicBezTo>
                  <a:pt x="76200" y="113288"/>
                  <a:pt x="84713" y="104775"/>
                  <a:pt x="95250" y="104775"/>
                </a:cubicBezTo>
                <a:close/>
                <a:moveTo>
                  <a:pt x="95250" y="171450"/>
                </a:moveTo>
                <a:lnTo>
                  <a:pt x="247650" y="171450"/>
                </a:lnTo>
                <a:cubicBezTo>
                  <a:pt x="258187" y="171450"/>
                  <a:pt x="266700" y="179963"/>
                  <a:pt x="266700" y="190500"/>
                </a:cubicBezTo>
                <a:cubicBezTo>
                  <a:pt x="266700" y="201037"/>
                  <a:pt x="258187" y="209550"/>
                  <a:pt x="247650" y="209550"/>
                </a:cubicBezTo>
                <a:lnTo>
                  <a:pt x="95250" y="209550"/>
                </a:lnTo>
                <a:cubicBezTo>
                  <a:pt x="84713" y="209550"/>
                  <a:pt x="76200" y="201037"/>
                  <a:pt x="76200" y="190500"/>
                </a:cubicBezTo>
                <a:cubicBezTo>
                  <a:pt x="76200" y="179963"/>
                  <a:pt x="84713" y="171450"/>
                  <a:pt x="95250" y="171450"/>
                </a:cubicBezTo>
                <a:close/>
              </a:path>
            </a:pathLst>
          </a:custGeom>
          <a:solidFill>
            <a:srgbClr val="1B5E5E"/>
          </a:solidFill>
          <a:ln/>
        </p:spPr>
      </p:sp>
      <p:sp>
        <p:nvSpPr>
          <p:cNvPr id="29" name="Text 27"/>
          <p:cNvSpPr/>
          <p:nvPr/>
        </p:nvSpPr>
        <p:spPr>
          <a:xfrm>
            <a:off x="8826500" y="5143500"/>
            <a:ext cx="6223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Gerar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relatórios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 garantir persistência com MySQL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62000" y="8255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B7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Universidade Kimpa Vita | Engenharia Informática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732000" y="8255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B7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32000"/>
            <a:ext cx="381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62000" y="3683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Fundamentação Teórica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4445000"/>
            <a:ext cx="1016000" cy="5080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4699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Tecnologias e padrões utilizados no desenvolvimento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1B5E5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63D3D"/>
          </a:solidFill>
          <a:ln/>
        </p:spPr>
      </p:sp>
      <p:sp>
        <p:nvSpPr>
          <p:cNvPr id="3" name="Shape 1"/>
          <p:cNvSpPr/>
          <p:nvPr/>
        </p:nvSpPr>
        <p:spPr>
          <a:xfrm>
            <a:off x="4826000" y="76200"/>
            <a:ext cx="2159000" cy="381000"/>
          </a:xfrm>
          <a:prstGeom prst="rect">
            <a:avLst/>
          </a:prstGeom>
          <a:solidFill>
            <a:srgbClr val="FFFFFF">
              <a:alpha val="12549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270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Introdução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4765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Objetivos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260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Fundamentação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755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Requisitos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Modelagem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745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Estrutura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224000" y="7620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Conclusão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7874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Tecnologias e Padrões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346200"/>
            <a:ext cx="635000" cy="3810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1651000"/>
            <a:ext cx="46990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2000" y="1651000"/>
            <a:ext cx="4699000" cy="635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6000" y="196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57254" y="217319"/>
                </a:moveTo>
                <a:cubicBezTo>
                  <a:pt x="266330" y="212665"/>
                  <a:pt x="278924" y="208637"/>
                  <a:pt x="278924" y="208637"/>
                </a:cubicBezTo>
                <a:cubicBezTo>
                  <a:pt x="278924" y="208637"/>
                  <a:pt x="243086" y="213499"/>
                  <a:pt x="207433" y="215721"/>
                </a:cubicBezTo>
                <a:cubicBezTo>
                  <a:pt x="163817" y="218430"/>
                  <a:pt x="116959" y="218986"/>
                  <a:pt x="93438" y="216624"/>
                </a:cubicBezTo>
                <a:cubicBezTo>
                  <a:pt x="37783" y="211068"/>
                  <a:pt x="123997" y="195719"/>
                  <a:pt x="123997" y="195719"/>
                </a:cubicBezTo>
                <a:cubicBezTo>
                  <a:pt x="123997" y="195719"/>
                  <a:pt x="90567" y="194052"/>
                  <a:pt x="49358" y="208915"/>
                </a:cubicBezTo>
                <a:cubicBezTo>
                  <a:pt x="741" y="226556"/>
                  <a:pt x="169743" y="234613"/>
                  <a:pt x="257254" y="217319"/>
                </a:cubicBezTo>
                <a:close/>
                <a:moveTo>
                  <a:pt x="178170" y="195024"/>
                </a:moveTo>
                <a:cubicBezTo>
                  <a:pt x="160576" y="165368"/>
                  <a:pt x="101216" y="139323"/>
                  <a:pt x="178170" y="93762"/>
                </a:cubicBezTo>
                <a:cubicBezTo>
                  <a:pt x="274201" y="36949"/>
                  <a:pt x="224936" y="0"/>
                  <a:pt x="224936" y="0"/>
                </a:cubicBezTo>
                <a:cubicBezTo>
                  <a:pt x="244845" y="58688"/>
                  <a:pt x="154927" y="76468"/>
                  <a:pt x="122423" y="112931"/>
                </a:cubicBezTo>
                <a:cubicBezTo>
                  <a:pt x="100290" y="137864"/>
                  <a:pt x="133257" y="164604"/>
                  <a:pt x="178170" y="195024"/>
                </a:cubicBezTo>
                <a:close/>
                <a:moveTo>
                  <a:pt x="284295" y="72648"/>
                </a:moveTo>
                <a:cubicBezTo>
                  <a:pt x="284387" y="72648"/>
                  <a:pt x="122052" y="103068"/>
                  <a:pt x="199562" y="170021"/>
                </a:cubicBezTo>
                <a:cubicBezTo>
                  <a:pt x="222435" y="189746"/>
                  <a:pt x="193543" y="207526"/>
                  <a:pt x="193543" y="207526"/>
                </a:cubicBezTo>
                <a:cubicBezTo>
                  <a:pt x="193543" y="207526"/>
                  <a:pt x="251606" y="185023"/>
                  <a:pt x="224936" y="156895"/>
                </a:cubicBezTo>
                <a:cubicBezTo>
                  <a:pt x="200025" y="130641"/>
                  <a:pt x="180949" y="117584"/>
                  <a:pt x="284295" y="72648"/>
                </a:cubicBezTo>
                <a:close/>
                <a:moveTo>
                  <a:pt x="278646" y="260519"/>
                </a:moveTo>
                <a:cubicBezTo>
                  <a:pt x="278183" y="261213"/>
                  <a:pt x="277535" y="261769"/>
                  <a:pt x="276794" y="262324"/>
                </a:cubicBezTo>
                <a:cubicBezTo>
                  <a:pt x="395605" y="238919"/>
                  <a:pt x="351896" y="179745"/>
                  <a:pt x="295129" y="194747"/>
                </a:cubicBezTo>
                <a:cubicBezTo>
                  <a:pt x="292074" y="195580"/>
                  <a:pt x="289388" y="197108"/>
                  <a:pt x="287536" y="199122"/>
                </a:cubicBezTo>
                <a:cubicBezTo>
                  <a:pt x="290870" y="198219"/>
                  <a:pt x="294296" y="197525"/>
                  <a:pt x="297722" y="197039"/>
                </a:cubicBezTo>
                <a:cubicBezTo>
                  <a:pt x="326430" y="192524"/>
                  <a:pt x="367639" y="225862"/>
                  <a:pt x="278646" y="260519"/>
                </a:cubicBezTo>
                <a:close/>
                <a:moveTo>
                  <a:pt x="322263" y="303788"/>
                </a:moveTo>
                <a:cubicBezTo>
                  <a:pt x="322263" y="303788"/>
                  <a:pt x="335690" y="312053"/>
                  <a:pt x="307538" y="318512"/>
                </a:cubicBezTo>
                <a:cubicBezTo>
                  <a:pt x="253921" y="330666"/>
                  <a:pt x="84548" y="334347"/>
                  <a:pt x="37505" y="318998"/>
                </a:cubicBezTo>
                <a:cubicBezTo>
                  <a:pt x="20558" y="313511"/>
                  <a:pt x="52321" y="305802"/>
                  <a:pt x="62323" y="304205"/>
                </a:cubicBezTo>
                <a:cubicBezTo>
                  <a:pt x="72694" y="302538"/>
                  <a:pt x="78714" y="302816"/>
                  <a:pt x="78714" y="302816"/>
                </a:cubicBezTo>
                <a:cubicBezTo>
                  <a:pt x="59915" y="292884"/>
                  <a:pt x="-42876" y="322332"/>
                  <a:pt x="26485" y="330736"/>
                </a:cubicBezTo>
                <a:cubicBezTo>
                  <a:pt x="215583" y="353794"/>
                  <a:pt x="371343" y="320387"/>
                  <a:pt x="322263" y="303788"/>
                </a:cubicBezTo>
                <a:close/>
                <a:moveTo>
                  <a:pt x="115292" y="275034"/>
                </a:moveTo>
                <a:cubicBezTo>
                  <a:pt x="42413" y="290314"/>
                  <a:pt x="159650" y="321846"/>
                  <a:pt x="252439" y="292050"/>
                </a:cubicBezTo>
                <a:cubicBezTo>
                  <a:pt x="243364" y="289411"/>
                  <a:pt x="234659" y="286216"/>
                  <a:pt x="226325" y="282466"/>
                </a:cubicBezTo>
                <a:cubicBezTo>
                  <a:pt x="184931" y="288369"/>
                  <a:pt x="165761" y="288786"/>
                  <a:pt x="128164" y="285591"/>
                </a:cubicBezTo>
                <a:cubicBezTo>
                  <a:pt x="97142" y="282952"/>
                  <a:pt x="115292" y="275034"/>
                  <a:pt x="115292" y="275034"/>
                </a:cubicBezTo>
                <a:close/>
                <a:moveTo>
                  <a:pt x="281794" y="342543"/>
                </a:moveTo>
                <a:cubicBezTo>
                  <a:pt x="208915" y="352822"/>
                  <a:pt x="118996" y="351641"/>
                  <a:pt x="65749" y="345043"/>
                </a:cubicBezTo>
                <a:cubicBezTo>
                  <a:pt x="65749" y="344974"/>
                  <a:pt x="76676" y="351780"/>
                  <a:pt x="132794" y="354489"/>
                </a:cubicBezTo>
                <a:cubicBezTo>
                  <a:pt x="218175" y="358586"/>
                  <a:pt x="349303" y="352197"/>
                  <a:pt x="352359" y="321915"/>
                </a:cubicBezTo>
                <a:cubicBezTo>
                  <a:pt x="352359" y="321915"/>
                  <a:pt x="346432" y="333375"/>
                  <a:pt x="281794" y="342543"/>
                </a:cubicBezTo>
                <a:close/>
                <a:moveTo>
                  <a:pt x="241419" y="245170"/>
                </a:moveTo>
                <a:cubicBezTo>
                  <a:pt x="186597" y="253087"/>
                  <a:pt x="154834" y="252879"/>
                  <a:pt x="114737" y="249753"/>
                </a:cubicBezTo>
                <a:cubicBezTo>
                  <a:pt x="83714" y="247323"/>
                  <a:pt x="103994" y="236071"/>
                  <a:pt x="103994" y="236071"/>
                </a:cubicBezTo>
                <a:cubicBezTo>
                  <a:pt x="23614" y="256074"/>
                  <a:pt x="148630" y="278715"/>
                  <a:pt x="260959" y="254060"/>
                </a:cubicBezTo>
                <a:cubicBezTo>
                  <a:pt x="253735" y="252115"/>
                  <a:pt x="247068" y="249128"/>
                  <a:pt x="241419" y="245170"/>
                </a:cubicBezTo>
                <a:close/>
              </a:path>
            </a:pathLst>
          </a:custGeom>
          <a:solidFill>
            <a:srgbClr val="1B5E5E"/>
          </a:solidFill>
          <a:ln/>
        </p:spPr>
      </p:sp>
      <p:sp>
        <p:nvSpPr>
          <p:cNvPr id="16" name="Text 14"/>
          <p:cNvSpPr/>
          <p:nvPr/>
        </p:nvSpPr>
        <p:spPr>
          <a:xfrm>
            <a:off x="1498600" y="19431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 e POO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16000" y="2476500"/>
            <a:ext cx="4191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Linguagem orientada a objetos com classes, herança, encapsulamento e polimorfismo. Cada entidade do domínio é representada por uma classe Java.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778500" y="1651000"/>
            <a:ext cx="46990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78500" y="1651000"/>
            <a:ext cx="4699000" cy="635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20" name="Shape 18"/>
          <p:cNvSpPr/>
          <p:nvPr/>
        </p:nvSpPr>
        <p:spPr>
          <a:xfrm>
            <a:off x="6032500" y="196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1479" y="3612"/>
                </a:moveTo>
                <a:cubicBezTo>
                  <a:pt x="171827" y="-1181"/>
                  <a:pt x="183773" y="-1181"/>
                  <a:pt x="194121" y="3612"/>
                </a:cubicBezTo>
                <a:lnTo>
                  <a:pt x="345946" y="73759"/>
                </a:lnTo>
                <a:cubicBezTo>
                  <a:pt x="351850" y="76468"/>
                  <a:pt x="355600" y="82371"/>
                  <a:pt x="355600" y="88900"/>
                </a:cubicBezTo>
                <a:cubicBezTo>
                  <a:pt x="355600" y="95429"/>
                  <a:pt x="351850" y="101332"/>
                  <a:pt x="345946" y="104041"/>
                </a:cubicBezTo>
                <a:lnTo>
                  <a:pt x="194121" y="174188"/>
                </a:lnTo>
                <a:cubicBezTo>
                  <a:pt x="183773" y="178981"/>
                  <a:pt x="171827" y="178981"/>
                  <a:pt x="161479" y="174188"/>
                </a:cubicBezTo>
                <a:lnTo>
                  <a:pt x="9654" y="104041"/>
                </a:lnTo>
                <a:cubicBezTo>
                  <a:pt x="3750" y="101263"/>
                  <a:pt x="0" y="95359"/>
                  <a:pt x="0" y="88900"/>
                </a:cubicBezTo>
                <a:cubicBezTo>
                  <a:pt x="0" y="82441"/>
                  <a:pt x="3750" y="76468"/>
                  <a:pt x="9654" y="73759"/>
                </a:cubicBezTo>
                <a:lnTo>
                  <a:pt x="161479" y="3612"/>
                </a:lnTo>
                <a:close/>
                <a:moveTo>
                  <a:pt x="33407" y="151686"/>
                </a:moveTo>
                <a:lnTo>
                  <a:pt x="147518" y="204401"/>
                </a:lnTo>
                <a:cubicBezTo>
                  <a:pt x="166757" y="213291"/>
                  <a:pt x="188913" y="213291"/>
                  <a:pt x="208151" y="204401"/>
                </a:cubicBezTo>
                <a:lnTo>
                  <a:pt x="322263" y="151686"/>
                </a:lnTo>
                <a:lnTo>
                  <a:pt x="345946" y="162659"/>
                </a:lnTo>
                <a:cubicBezTo>
                  <a:pt x="351850" y="165368"/>
                  <a:pt x="355600" y="171271"/>
                  <a:pt x="355600" y="177800"/>
                </a:cubicBezTo>
                <a:cubicBezTo>
                  <a:pt x="355600" y="184329"/>
                  <a:pt x="351850" y="190232"/>
                  <a:pt x="345946" y="192941"/>
                </a:cubicBezTo>
                <a:lnTo>
                  <a:pt x="194121" y="263088"/>
                </a:lnTo>
                <a:cubicBezTo>
                  <a:pt x="183773" y="267881"/>
                  <a:pt x="171827" y="267881"/>
                  <a:pt x="161479" y="263088"/>
                </a:cubicBezTo>
                <a:lnTo>
                  <a:pt x="9654" y="192941"/>
                </a:lnTo>
                <a:cubicBezTo>
                  <a:pt x="3750" y="190163"/>
                  <a:pt x="0" y="184259"/>
                  <a:pt x="0" y="177800"/>
                </a:cubicBezTo>
                <a:cubicBezTo>
                  <a:pt x="0" y="171341"/>
                  <a:pt x="3750" y="165368"/>
                  <a:pt x="9654" y="162659"/>
                </a:cubicBezTo>
                <a:lnTo>
                  <a:pt x="33337" y="151686"/>
                </a:lnTo>
                <a:close/>
                <a:moveTo>
                  <a:pt x="9654" y="251559"/>
                </a:moveTo>
                <a:lnTo>
                  <a:pt x="33337" y="240586"/>
                </a:lnTo>
                <a:lnTo>
                  <a:pt x="147449" y="293301"/>
                </a:lnTo>
                <a:cubicBezTo>
                  <a:pt x="166688" y="302191"/>
                  <a:pt x="188843" y="302191"/>
                  <a:pt x="208082" y="293301"/>
                </a:cubicBezTo>
                <a:lnTo>
                  <a:pt x="322193" y="240586"/>
                </a:lnTo>
                <a:lnTo>
                  <a:pt x="345877" y="251559"/>
                </a:lnTo>
                <a:cubicBezTo>
                  <a:pt x="351780" y="254268"/>
                  <a:pt x="355531" y="260171"/>
                  <a:pt x="355531" y="266700"/>
                </a:cubicBezTo>
                <a:cubicBezTo>
                  <a:pt x="355531" y="273229"/>
                  <a:pt x="351780" y="279132"/>
                  <a:pt x="345877" y="281841"/>
                </a:cubicBezTo>
                <a:lnTo>
                  <a:pt x="194052" y="351988"/>
                </a:lnTo>
                <a:cubicBezTo>
                  <a:pt x="183704" y="356781"/>
                  <a:pt x="171758" y="356781"/>
                  <a:pt x="161409" y="351988"/>
                </a:cubicBezTo>
                <a:lnTo>
                  <a:pt x="9654" y="281841"/>
                </a:lnTo>
                <a:cubicBezTo>
                  <a:pt x="3750" y="279063"/>
                  <a:pt x="0" y="273159"/>
                  <a:pt x="0" y="266700"/>
                </a:cubicBezTo>
                <a:cubicBezTo>
                  <a:pt x="0" y="260241"/>
                  <a:pt x="3750" y="254268"/>
                  <a:pt x="9654" y="251559"/>
                </a:cubicBezTo>
                <a:close/>
              </a:path>
            </a:pathLst>
          </a:custGeom>
          <a:solidFill>
            <a:srgbClr val="1B5E5E"/>
          </a:solidFill>
          <a:ln/>
        </p:spPr>
      </p:sp>
      <p:sp>
        <p:nvSpPr>
          <p:cNvPr id="21" name="Text 19"/>
          <p:cNvSpPr/>
          <p:nvPr/>
        </p:nvSpPr>
        <p:spPr>
          <a:xfrm>
            <a:off x="6515100" y="19431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Arquitetura MVC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32500" y="2476500"/>
            <a:ext cx="4191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Separaçao em tres camadas: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(dados), 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View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(interface Swing) e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Controller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(logica de negocio).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795000" y="1651000"/>
            <a:ext cx="46990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795000" y="1651000"/>
            <a:ext cx="4699000" cy="635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25" name="Shape 23"/>
          <p:cNvSpPr/>
          <p:nvPr/>
        </p:nvSpPr>
        <p:spPr>
          <a:xfrm>
            <a:off x="11049000" y="196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5600" y="142935"/>
                </a:moveTo>
                <a:cubicBezTo>
                  <a:pt x="343853" y="149741"/>
                  <a:pt x="330359" y="155228"/>
                  <a:pt x="316309" y="159603"/>
                </a:cubicBezTo>
                <a:cubicBezTo>
                  <a:pt x="279003" y="171271"/>
                  <a:pt x="230029" y="177800"/>
                  <a:pt x="177800" y="177800"/>
                </a:cubicBezTo>
                <a:cubicBezTo>
                  <a:pt x="125571" y="177800"/>
                  <a:pt x="76518" y="171202"/>
                  <a:pt x="39291" y="159603"/>
                </a:cubicBezTo>
                <a:cubicBezTo>
                  <a:pt x="25321" y="155228"/>
                  <a:pt x="11747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79613" y="255587"/>
                  <a:pt x="177800" y="255587"/>
                </a:cubicBezTo>
                <a:cubicBezTo>
                  <a:pt x="275987" y="255587"/>
                  <a:pt x="355600" y="230723"/>
                  <a:pt x="355600" y="200025"/>
                </a:cubicBezTo>
                <a:lnTo>
                  <a:pt x="355600" y="142935"/>
                </a:lnTo>
                <a:close/>
                <a:moveTo>
                  <a:pt x="355600" y="88900"/>
                </a:moveTo>
                <a:lnTo>
                  <a:pt x="355600" y="55563"/>
                </a:lnTo>
                <a:cubicBezTo>
                  <a:pt x="355600" y="24864"/>
                  <a:pt x="275987" y="0"/>
                  <a:pt x="177800" y="0"/>
                </a:cubicBezTo>
                <a:cubicBezTo>
                  <a:pt x="79613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79613" y="144463"/>
                  <a:pt x="177800" y="144463"/>
                </a:cubicBezTo>
                <a:cubicBezTo>
                  <a:pt x="275987" y="144463"/>
                  <a:pt x="355600" y="119598"/>
                  <a:pt x="355600" y="88900"/>
                </a:cubicBezTo>
                <a:close/>
                <a:moveTo>
                  <a:pt x="316309" y="270728"/>
                </a:moveTo>
                <a:cubicBezTo>
                  <a:pt x="279083" y="282327"/>
                  <a:pt x="230108" y="288925"/>
                  <a:pt x="177800" y="288925"/>
                </a:cubicBezTo>
                <a:cubicBezTo>
                  <a:pt x="125492" y="288925"/>
                  <a:pt x="76518" y="282327"/>
                  <a:pt x="39291" y="270728"/>
                </a:cubicBezTo>
                <a:cubicBezTo>
                  <a:pt x="25321" y="266353"/>
                  <a:pt x="11747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79613" y="355600"/>
                  <a:pt x="177800" y="355600"/>
                </a:cubicBezTo>
                <a:cubicBezTo>
                  <a:pt x="275987" y="355600"/>
                  <a:pt x="355600" y="330736"/>
                  <a:pt x="355600" y="300038"/>
                </a:cubicBezTo>
                <a:lnTo>
                  <a:pt x="355600" y="254060"/>
                </a:lnTo>
                <a:cubicBezTo>
                  <a:pt x="343853" y="260866"/>
                  <a:pt x="330359" y="266353"/>
                  <a:pt x="316309" y="270728"/>
                </a:cubicBezTo>
                <a:close/>
              </a:path>
            </a:pathLst>
          </a:custGeom>
          <a:solidFill>
            <a:srgbClr val="1B5E5E"/>
          </a:solidFill>
          <a:ln/>
        </p:spPr>
      </p:sp>
      <p:sp>
        <p:nvSpPr>
          <p:cNvPr id="26" name="Text 24"/>
          <p:cNvSpPr/>
          <p:nvPr/>
        </p:nvSpPr>
        <p:spPr>
          <a:xfrm>
            <a:off x="11531600" y="19431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Padrão DAO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049000" y="2476500"/>
            <a:ext cx="4191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Access Object isola o acesso a base de dados numa camada separada, facilitando a manutencao e independencia da logica de negocio.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263900" y="5080000"/>
            <a:ext cx="4699000" cy="27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63900" y="5080000"/>
            <a:ext cx="4699000" cy="6350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30" name="Shape 28"/>
          <p:cNvSpPr/>
          <p:nvPr/>
        </p:nvSpPr>
        <p:spPr>
          <a:xfrm>
            <a:off x="3517900" y="539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01600" y="-22225"/>
                </a:moveTo>
                <a:cubicBezTo>
                  <a:pt x="115649" y="-22225"/>
                  <a:pt x="127000" y="-12293"/>
                  <a:pt x="127000" y="0"/>
                </a:cubicBezTo>
                <a:lnTo>
                  <a:pt x="127000" y="66675"/>
                </a:lnTo>
                <a:lnTo>
                  <a:pt x="228600" y="66675"/>
                </a:lnTo>
                <a:lnTo>
                  <a:pt x="228600" y="0"/>
                </a:lnTo>
                <a:cubicBezTo>
                  <a:pt x="228600" y="-12293"/>
                  <a:pt x="239951" y="-22225"/>
                  <a:pt x="254000" y="-22225"/>
                </a:cubicBezTo>
                <a:cubicBezTo>
                  <a:pt x="268049" y="-22225"/>
                  <a:pt x="279400" y="-12293"/>
                  <a:pt x="279400" y="0"/>
                </a:cubicBezTo>
                <a:lnTo>
                  <a:pt x="279400" y="66675"/>
                </a:lnTo>
                <a:lnTo>
                  <a:pt x="330200" y="66675"/>
                </a:lnTo>
                <a:cubicBezTo>
                  <a:pt x="344249" y="66675"/>
                  <a:pt x="355600" y="76607"/>
                  <a:pt x="355600" y="88900"/>
                </a:cubicBezTo>
                <a:cubicBezTo>
                  <a:pt x="355600" y="101193"/>
                  <a:pt x="344249" y="111125"/>
                  <a:pt x="330200" y="111125"/>
                </a:cubicBezTo>
                <a:lnTo>
                  <a:pt x="330200" y="155575"/>
                </a:lnTo>
                <a:cubicBezTo>
                  <a:pt x="330200" y="221625"/>
                  <a:pt x="275273" y="276493"/>
                  <a:pt x="203200" y="287050"/>
                </a:cubicBezTo>
                <a:lnTo>
                  <a:pt x="203200" y="333375"/>
                </a:lnTo>
                <a:cubicBezTo>
                  <a:pt x="203200" y="345668"/>
                  <a:pt x="191849" y="355600"/>
                  <a:pt x="177800" y="355600"/>
                </a:cubicBezTo>
                <a:cubicBezTo>
                  <a:pt x="163751" y="355600"/>
                  <a:pt x="152400" y="345668"/>
                  <a:pt x="152400" y="333375"/>
                </a:cubicBezTo>
                <a:lnTo>
                  <a:pt x="152400" y="287050"/>
                </a:lnTo>
                <a:cubicBezTo>
                  <a:pt x="80328" y="276493"/>
                  <a:pt x="25400" y="221625"/>
                  <a:pt x="25400" y="155575"/>
                </a:cubicBezTo>
                <a:lnTo>
                  <a:pt x="25400" y="111125"/>
                </a:lnTo>
                <a:cubicBezTo>
                  <a:pt x="11351" y="111125"/>
                  <a:pt x="0" y="101193"/>
                  <a:pt x="0" y="88900"/>
                </a:cubicBezTo>
                <a:cubicBezTo>
                  <a:pt x="0" y="76607"/>
                  <a:pt x="11351" y="66675"/>
                  <a:pt x="25400" y="66675"/>
                </a:cubicBezTo>
                <a:lnTo>
                  <a:pt x="76200" y="66675"/>
                </a:lnTo>
                <a:lnTo>
                  <a:pt x="76200" y="0"/>
                </a:lnTo>
                <a:cubicBezTo>
                  <a:pt x="76200" y="-12293"/>
                  <a:pt x="87551" y="-22225"/>
                  <a:pt x="101600" y="-22225"/>
                </a:cubicBezTo>
                <a:close/>
              </a:path>
            </a:pathLst>
          </a:custGeom>
          <a:solidFill>
            <a:srgbClr val="C8553D"/>
          </a:solidFill>
          <a:ln/>
        </p:spPr>
      </p:sp>
      <p:sp>
        <p:nvSpPr>
          <p:cNvPr id="31" name="Text 29"/>
          <p:cNvSpPr/>
          <p:nvPr/>
        </p:nvSpPr>
        <p:spPr>
          <a:xfrm>
            <a:off x="4000500" y="53721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C855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JDBC e MySQL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517900" y="5905500"/>
            <a:ext cx="419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Java para acesso a bases de dados relacionais. MySQL com conector mysql-connector-j-9.7.0 para a ligaçao.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280400" y="5080000"/>
            <a:ext cx="4699000" cy="27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80400" y="5080000"/>
            <a:ext cx="4699000" cy="6350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35" name="Shape 33"/>
          <p:cNvSpPr/>
          <p:nvPr/>
        </p:nvSpPr>
        <p:spPr>
          <a:xfrm>
            <a:off x="8534400" y="539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44475"/>
                </a:lnTo>
                <a:cubicBezTo>
                  <a:pt x="0" y="268992"/>
                  <a:pt x="19933" y="288925"/>
                  <a:pt x="44450" y="288925"/>
                </a:cubicBezTo>
                <a:lnTo>
                  <a:pt x="144463" y="288925"/>
                </a:lnTo>
                <a:lnTo>
                  <a:pt x="133350" y="322263"/>
                </a:lnTo>
                <a:lnTo>
                  <a:pt x="83344" y="322263"/>
                </a:lnTo>
                <a:cubicBezTo>
                  <a:pt x="74106" y="322263"/>
                  <a:pt x="66675" y="329694"/>
                  <a:pt x="66675" y="338931"/>
                </a:cubicBezTo>
                <a:cubicBezTo>
                  <a:pt x="66675" y="348169"/>
                  <a:pt x="74106" y="355600"/>
                  <a:pt x="83344" y="355600"/>
                </a:cubicBezTo>
                <a:lnTo>
                  <a:pt x="272256" y="355600"/>
                </a:lnTo>
                <a:cubicBezTo>
                  <a:pt x="281494" y="355600"/>
                  <a:pt x="288925" y="348169"/>
                  <a:pt x="288925" y="338931"/>
                </a:cubicBezTo>
                <a:cubicBezTo>
                  <a:pt x="288925" y="329694"/>
                  <a:pt x="281494" y="322263"/>
                  <a:pt x="272256" y="322263"/>
                </a:cubicBezTo>
                <a:lnTo>
                  <a:pt x="222250" y="322263"/>
                </a:lnTo>
                <a:lnTo>
                  <a:pt x="211138" y="288925"/>
                </a:lnTo>
                <a:lnTo>
                  <a:pt x="311150" y="288925"/>
                </a:lnTo>
                <a:cubicBezTo>
                  <a:pt x="335667" y="288925"/>
                  <a:pt x="355600" y="268992"/>
                  <a:pt x="355600" y="244475"/>
                </a:cubicBezTo>
                <a:lnTo>
                  <a:pt x="355600" y="66675"/>
                </a:lnTo>
                <a:cubicBezTo>
                  <a:pt x="355600" y="42158"/>
                  <a:pt x="335667" y="22225"/>
                  <a:pt x="311150" y="22225"/>
                </a:cubicBezTo>
                <a:lnTo>
                  <a:pt x="44450" y="22225"/>
                </a:lnTo>
                <a:close/>
                <a:moveTo>
                  <a:pt x="66675" y="66675"/>
                </a:moveTo>
                <a:lnTo>
                  <a:pt x="288925" y="66675"/>
                </a:lnTo>
                <a:cubicBezTo>
                  <a:pt x="301218" y="66675"/>
                  <a:pt x="311150" y="76607"/>
                  <a:pt x="311150" y="88900"/>
                </a:cubicBezTo>
                <a:lnTo>
                  <a:pt x="311150" y="200025"/>
                </a:lnTo>
                <a:cubicBezTo>
                  <a:pt x="311150" y="212318"/>
                  <a:pt x="301218" y="222250"/>
                  <a:pt x="288925" y="222250"/>
                </a:cubicBezTo>
                <a:lnTo>
                  <a:pt x="66675" y="222250"/>
                </a:lnTo>
                <a:cubicBezTo>
                  <a:pt x="54382" y="222250"/>
                  <a:pt x="44450" y="212318"/>
                  <a:pt x="44450" y="200025"/>
                </a:cubicBezTo>
                <a:lnTo>
                  <a:pt x="44450" y="88900"/>
                </a:lnTo>
                <a:cubicBezTo>
                  <a:pt x="44450" y="76607"/>
                  <a:pt x="54382" y="66675"/>
                  <a:pt x="66675" y="66675"/>
                </a:cubicBezTo>
                <a:close/>
              </a:path>
            </a:pathLst>
          </a:custGeom>
          <a:solidFill>
            <a:srgbClr val="C8553D"/>
          </a:solidFill>
          <a:ln/>
        </p:spPr>
      </p:sp>
      <p:sp>
        <p:nvSpPr>
          <p:cNvPr id="36" name="Text 34"/>
          <p:cNvSpPr/>
          <p:nvPr/>
        </p:nvSpPr>
        <p:spPr>
          <a:xfrm>
            <a:off x="9017000" y="53721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C855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 Swing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534400" y="5905500"/>
            <a:ext cx="419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Biblioteca grafica multiplataforma para construçao de interfaces com janelas, botoes, tabelas e formularios.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62000" y="8255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B7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Universidade Kimpa Vita | Engenharia Informatica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4732000" y="8255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B7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32000"/>
            <a:ext cx="381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62000" y="3683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Requisitos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4445000"/>
            <a:ext cx="1016000" cy="5080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4699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Levantamento de requisitos funcionais e nao funcionais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1B5E5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63D3D"/>
          </a:solidFill>
          <a:ln/>
        </p:spPr>
      </p:sp>
      <p:sp>
        <p:nvSpPr>
          <p:cNvPr id="3" name="Shape 1"/>
          <p:cNvSpPr/>
          <p:nvPr/>
        </p:nvSpPr>
        <p:spPr>
          <a:xfrm>
            <a:off x="7175500" y="76200"/>
            <a:ext cx="2159000" cy="381000"/>
          </a:xfrm>
          <a:prstGeom prst="rect">
            <a:avLst/>
          </a:prstGeom>
          <a:solidFill>
            <a:srgbClr val="FFFFFF">
              <a:alpha val="12549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270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Introdução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4765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Objetivos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260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Fundamentação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755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Requisitos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Modelagem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745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Estrutura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224000" y="7620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Conclusão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7874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Requisitos Funcionais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346200"/>
            <a:ext cx="635000" cy="38100"/>
          </a:xfrm>
          <a:prstGeom prst="rect">
            <a:avLst/>
          </a:prstGeom>
          <a:solidFill>
            <a:srgbClr val="C8553D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651000"/>
          <a:ext cx="14732000" cy="4318000"/>
        </p:xfrm>
        <a:graphic>
          <a:graphicData uri="http://schemas.openxmlformats.org/drawingml/2006/table">
            <a:tbl>
              <a:tblPr/>
              <a:tblGrid>
                <a:gridCol w="1473200"/>
                <a:gridCol w="3683000"/>
                <a:gridCol w="9575800"/>
              </a:tblGrid>
              <a:tr h="6045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Requisito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Descrição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</a:tr>
              <a:tr h="61747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RF01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Gestão de Pacientes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Cadastrar, editar, excluir e listar pacientes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747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RF02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Gestão de Médicos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Cadastrar, editar, excluir e listar médicos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  <a:tr h="61747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RF03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Gestão de Consultas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Agendar, editar e cancelar consultas médicas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747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RF04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Gestão de Prontuários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Registar e consultar prontuários clínicos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  <a:tr h="61747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RF05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Autenticação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Login com perfis: Administrador, Médico, Recepcionista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611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RF06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Relatórios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Gerar relatórios de pacientes e consultas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762000" y="62230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i="1" dirty="0">
                <a:solidFill>
                  <a:srgbClr val="6B7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de 6 requisitos funcionais identificados no levantamento de requisitos do sistema.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2000" y="8255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B7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Universidade Kimpa Vita | Engenharia Informática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4732000" y="8255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B7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63D3D"/>
          </a:solidFill>
          <a:ln/>
        </p:spPr>
      </p:sp>
      <p:sp>
        <p:nvSpPr>
          <p:cNvPr id="3" name="Shape 1"/>
          <p:cNvSpPr/>
          <p:nvPr/>
        </p:nvSpPr>
        <p:spPr>
          <a:xfrm>
            <a:off x="7175500" y="76200"/>
            <a:ext cx="2159000" cy="381000"/>
          </a:xfrm>
          <a:prstGeom prst="rect">
            <a:avLst/>
          </a:prstGeom>
          <a:solidFill>
            <a:srgbClr val="FFFFFF">
              <a:alpha val="12549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270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Introdução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4765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Objetivos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260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Fundamentação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755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Requisitos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Modelagem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745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Estrutura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224000" y="7620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Conclusão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7874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Requisitos Não Funcionais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346200"/>
            <a:ext cx="635000" cy="38100"/>
          </a:xfrm>
          <a:prstGeom prst="rect">
            <a:avLst/>
          </a:prstGeom>
          <a:solidFill>
            <a:srgbClr val="C8553D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78000"/>
          <a:ext cx="14732000" cy="3048000"/>
        </p:xfrm>
        <a:graphic>
          <a:graphicData uri="http://schemas.openxmlformats.org/drawingml/2006/table">
            <a:tbl>
              <a:tblPr/>
              <a:tblGrid>
                <a:gridCol w="1473200"/>
                <a:gridCol w="2946400"/>
                <a:gridCol w="10312400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Requisito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Descrição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RNF01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Segurança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Autenticação obrigatória com perfis de acesso distintos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RNF02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Desempenho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Resposta rápida nas operações de base de dados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RNF03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Usabilidade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Interface gráfica intuitiva e organizada por abas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RNF04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Disponibilidade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Modo demonstração quando sem ligação à base de dados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762000" y="520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Pilares de Qualidade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62000" y="5715000"/>
            <a:ext cx="3429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2000" y="5715000"/>
            <a:ext cx="3429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17" name="Shape 14"/>
          <p:cNvSpPr/>
          <p:nvPr/>
        </p:nvSpPr>
        <p:spPr>
          <a:xfrm>
            <a:off x="1016000" y="5969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193923" y="0"/>
                  <a:pt x="197346" y="744"/>
                  <a:pt x="200471" y="2158"/>
                </a:cubicBezTo>
                <a:lnTo>
                  <a:pt x="340668" y="61615"/>
                </a:lnTo>
                <a:cubicBezTo>
                  <a:pt x="357039" y="68535"/>
                  <a:pt x="369243" y="84683"/>
                  <a:pt x="369168" y="104180"/>
                </a:cubicBezTo>
                <a:cubicBezTo>
                  <a:pt x="368796" y="177998"/>
                  <a:pt x="338435" y="313060"/>
                  <a:pt x="210220" y="374452"/>
                </a:cubicBezTo>
                <a:cubicBezTo>
                  <a:pt x="197793" y="380405"/>
                  <a:pt x="183356" y="380405"/>
                  <a:pt x="170929" y="374452"/>
                </a:cubicBezTo>
                <a:cubicBezTo>
                  <a:pt x="42639" y="313060"/>
                  <a:pt x="12353" y="177998"/>
                  <a:pt x="11981" y="104180"/>
                </a:cubicBezTo>
                <a:cubicBezTo>
                  <a:pt x="11906" y="84683"/>
                  <a:pt x="24110" y="68535"/>
                  <a:pt x="40481" y="61615"/>
                </a:cubicBezTo>
                <a:lnTo>
                  <a:pt x="180603" y="2158"/>
                </a:lnTo>
                <a:cubicBezTo>
                  <a:pt x="183728" y="744"/>
                  <a:pt x="187077" y="0"/>
                  <a:pt x="190500" y="0"/>
                </a:cubicBezTo>
                <a:close/>
                <a:moveTo>
                  <a:pt x="190500" y="49709"/>
                </a:moveTo>
                <a:lnTo>
                  <a:pt x="190500" y="331068"/>
                </a:lnTo>
                <a:cubicBezTo>
                  <a:pt x="293191" y="281360"/>
                  <a:pt x="320799" y="171227"/>
                  <a:pt x="321469" y="105296"/>
                </a:cubicBezTo>
                <a:lnTo>
                  <a:pt x="190500" y="49783"/>
                </a:lnTo>
                <a:lnTo>
                  <a:pt x="190500" y="49783"/>
                </a:lnTo>
                <a:close/>
              </a:path>
            </a:pathLst>
          </a:custGeom>
          <a:solidFill>
            <a:srgbClr val="1B5E5E"/>
          </a:solidFill>
          <a:ln/>
        </p:spPr>
      </p:sp>
      <p:sp>
        <p:nvSpPr>
          <p:cNvPr id="18" name="Text 15"/>
          <p:cNvSpPr/>
          <p:nvPr/>
        </p:nvSpPr>
        <p:spPr>
          <a:xfrm>
            <a:off x="1016000" y="6477000"/>
            <a:ext cx="292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Segurança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16000" y="6858000"/>
            <a:ext cx="292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Autenticação obrigatória com 3 níveis de acesso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521200" y="5715000"/>
            <a:ext cx="3429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21200" y="5715000"/>
            <a:ext cx="3429000" cy="508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22" name="Shape 19"/>
          <p:cNvSpPr/>
          <p:nvPr/>
        </p:nvSpPr>
        <p:spPr>
          <a:xfrm>
            <a:off x="4775200" y="5969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500"/>
                </a:moveTo>
                <a:cubicBezTo>
                  <a:pt x="0" y="85360"/>
                  <a:pt x="85360" y="0"/>
                  <a:pt x="190500" y="0"/>
                </a:cubicBezTo>
                <a:cubicBezTo>
                  <a:pt x="295640" y="0"/>
                  <a:pt x="381000" y="85360"/>
                  <a:pt x="381000" y="190500"/>
                </a:cubicBezTo>
                <a:cubicBezTo>
                  <a:pt x="381000" y="295640"/>
                  <a:pt x="295640" y="381000"/>
                  <a:pt x="190500" y="381000"/>
                </a:cubicBezTo>
                <a:cubicBezTo>
                  <a:pt x="85360" y="381000"/>
                  <a:pt x="0" y="295640"/>
                  <a:pt x="0" y="190500"/>
                </a:cubicBezTo>
                <a:close/>
                <a:moveTo>
                  <a:pt x="214313" y="71438"/>
                </a:moveTo>
                <a:cubicBezTo>
                  <a:pt x="214313" y="58295"/>
                  <a:pt x="203642" y="47625"/>
                  <a:pt x="190500" y="47625"/>
                </a:cubicBezTo>
                <a:cubicBezTo>
                  <a:pt x="177358" y="47625"/>
                  <a:pt x="166688" y="58295"/>
                  <a:pt x="166688" y="71438"/>
                </a:cubicBezTo>
                <a:cubicBezTo>
                  <a:pt x="166688" y="84580"/>
                  <a:pt x="177358" y="95250"/>
                  <a:pt x="190500" y="95250"/>
                </a:cubicBezTo>
                <a:cubicBezTo>
                  <a:pt x="203642" y="95250"/>
                  <a:pt x="214313" y="84580"/>
                  <a:pt x="214313" y="71438"/>
                </a:cubicBezTo>
                <a:close/>
                <a:moveTo>
                  <a:pt x="190500" y="309563"/>
                </a:moveTo>
                <a:cubicBezTo>
                  <a:pt x="216768" y="309563"/>
                  <a:pt x="238125" y="288206"/>
                  <a:pt x="238125" y="261938"/>
                </a:cubicBezTo>
                <a:cubicBezTo>
                  <a:pt x="238125" y="249882"/>
                  <a:pt x="233660" y="238795"/>
                  <a:pt x="226219" y="230460"/>
                </a:cubicBezTo>
                <a:lnTo>
                  <a:pt x="277937" y="127099"/>
                </a:lnTo>
                <a:cubicBezTo>
                  <a:pt x="282327" y="118244"/>
                  <a:pt x="278755" y="107528"/>
                  <a:pt x="269974" y="103138"/>
                </a:cubicBezTo>
                <a:cubicBezTo>
                  <a:pt x="261193" y="98747"/>
                  <a:pt x="250403" y="102319"/>
                  <a:pt x="246013" y="111100"/>
                </a:cubicBezTo>
                <a:lnTo>
                  <a:pt x="194295" y="214461"/>
                </a:lnTo>
                <a:cubicBezTo>
                  <a:pt x="193030" y="214387"/>
                  <a:pt x="191765" y="214313"/>
                  <a:pt x="190500" y="214313"/>
                </a:cubicBezTo>
                <a:cubicBezTo>
                  <a:pt x="164232" y="214313"/>
                  <a:pt x="142875" y="235669"/>
                  <a:pt x="142875" y="261938"/>
                </a:cubicBezTo>
                <a:cubicBezTo>
                  <a:pt x="142875" y="288206"/>
                  <a:pt x="164232" y="309563"/>
                  <a:pt x="190500" y="309563"/>
                </a:cubicBezTo>
                <a:close/>
                <a:moveTo>
                  <a:pt x="130969" y="107156"/>
                </a:moveTo>
                <a:cubicBezTo>
                  <a:pt x="130969" y="94014"/>
                  <a:pt x="120299" y="83344"/>
                  <a:pt x="107156" y="83344"/>
                </a:cubicBezTo>
                <a:cubicBezTo>
                  <a:pt x="94014" y="83344"/>
                  <a:pt x="83344" y="94014"/>
                  <a:pt x="83344" y="107156"/>
                </a:cubicBezTo>
                <a:cubicBezTo>
                  <a:pt x="83344" y="120299"/>
                  <a:pt x="94014" y="130969"/>
                  <a:pt x="107156" y="130969"/>
                </a:cubicBezTo>
                <a:cubicBezTo>
                  <a:pt x="120299" y="130969"/>
                  <a:pt x="130969" y="120299"/>
                  <a:pt x="130969" y="107156"/>
                </a:cubicBezTo>
                <a:close/>
                <a:moveTo>
                  <a:pt x="71438" y="214313"/>
                </a:moveTo>
                <a:cubicBezTo>
                  <a:pt x="84580" y="214313"/>
                  <a:pt x="95250" y="203642"/>
                  <a:pt x="95250" y="190500"/>
                </a:cubicBezTo>
                <a:cubicBezTo>
                  <a:pt x="95250" y="177358"/>
                  <a:pt x="84580" y="166688"/>
                  <a:pt x="71438" y="166688"/>
                </a:cubicBezTo>
                <a:cubicBezTo>
                  <a:pt x="58295" y="166688"/>
                  <a:pt x="47625" y="177358"/>
                  <a:pt x="47625" y="190500"/>
                </a:cubicBezTo>
                <a:cubicBezTo>
                  <a:pt x="47625" y="203642"/>
                  <a:pt x="58295" y="214313"/>
                  <a:pt x="71438" y="214313"/>
                </a:cubicBezTo>
                <a:close/>
                <a:moveTo>
                  <a:pt x="333375" y="190500"/>
                </a:moveTo>
                <a:cubicBezTo>
                  <a:pt x="333375" y="177358"/>
                  <a:pt x="322705" y="166688"/>
                  <a:pt x="309563" y="166688"/>
                </a:cubicBezTo>
                <a:cubicBezTo>
                  <a:pt x="296420" y="166688"/>
                  <a:pt x="285750" y="177358"/>
                  <a:pt x="285750" y="190500"/>
                </a:cubicBezTo>
                <a:cubicBezTo>
                  <a:pt x="285750" y="203642"/>
                  <a:pt x="296420" y="214313"/>
                  <a:pt x="309563" y="214313"/>
                </a:cubicBezTo>
                <a:cubicBezTo>
                  <a:pt x="322705" y="214313"/>
                  <a:pt x="333375" y="203642"/>
                  <a:pt x="333375" y="190500"/>
                </a:cubicBezTo>
                <a:close/>
              </a:path>
            </a:pathLst>
          </a:custGeom>
          <a:solidFill>
            <a:srgbClr val="1B5E5E"/>
          </a:solidFill>
          <a:ln/>
        </p:spPr>
      </p:sp>
      <p:sp>
        <p:nvSpPr>
          <p:cNvPr id="23" name="Text 20"/>
          <p:cNvSpPr/>
          <p:nvPr/>
        </p:nvSpPr>
        <p:spPr>
          <a:xfrm>
            <a:off x="4775200" y="6477000"/>
            <a:ext cx="292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Desempenho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775200" y="6858000"/>
            <a:ext cx="292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Resposta rápida nas operações de BD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280400" y="5715000"/>
            <a:ext cx="3429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80400" y="5715000"/>
            <a:ext cx="3429000" cy="5080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27" name="Shape 24"/>
          <p:cNvSpPr/>
          <p:nvPr/>
        </p:nvSpPr>
        <p:spPr>
          <a:xfrm>
            <a:off x="8534400" y="5969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08857" y="29766"/>
                </a:moveTo>
                <a:cubicBezTo>
                  <a:pt x="108857" y="13320"/>
                  <a:pt x="124080" y="0"/>
                  <a:pt x="142875" y="0"/>
                </a:cubicBezTo>
                <a:cubicBezTo>
                  <a:pt x="161670" y="0"/>
                  <a:pt x="176893" y="13320"/>
                  <a:pt x="176893" y="29766"/>
                </a:cubicBezTo>
                <a:lnTo>
                  <a:pt x="176893" y="140047"/>
                </a:lnTo>
                <a:cubicBezTo>
                  <a:pt x="184122" y="134392"/>
                  <a:pt x="193647" y="130969"/>
                  <a:pt x="204107" y="130969"/>
                </a:cubicBezTo>
                <a:cubicBezTo>
                  <a:pt x="221626" y="130969"/>
                  <a:pt x="236594" y="140643"/>
                  <a:pt x="242377" y="154186"/>
                </a:cubicBezTo>
                <a:cubicBezTo>
                  <a:pt x="249861" y="147265"/>
                  <a:pt x="260407" y="142875"/>
                  <a:pt x="272143" y="142875"/>
                </a:cubicBezTo>
                <a:cubicBezTo>
                  <a:pt x="293659" y="142875"/>
                  <a:pt x="311263" y="157386"/>
                  <a:pt x="312879" y="175840"/>
                </a:cubicBezTo>
                <a:cubicBezTo>
                  <a:pt x="320108" y="170111"/>
                  <a:pt x="329718" y="166688"/>
                  <a:pt x="340179" y="166688"/>
                </a:cubicBezTo>
                <a:cubicBezTo>
                  <a:pt x="362715" y="166688"/>
                  <a:pt x="381000" y="182687"/>
                  <a:pt x="381000" y="202406"/>
                </a:cubicBezTo>
                <a:lnTo>
                  <a:pt x="381000" y="285750"/>
                </a:lnTo>
                <a:cubicBezTo>
                  <a:pt x="381000" y="338361"/>
                  <a:pt x="332269" y="381000"/>
                  <a:pt x="272143" y="381000"/>
                </a:cubicBezTo>
                <a:lnTo>
                  <a:pt x="199600" y="381000"/>
                </a:lnTo>
                <a:cubicBezTo>
                  <a:pt x="195348" y="381000"/>
                  <a:pt x="191180" y="380777"/>
                  <a:pt x="187098" y="380256"/>
                </a:cubicBezTo>
                <a:cubicBezTo>
                  <a:pt x="140069" y="376089"/>
                  <a:pt x="96781" y="354955"/>
                  <a:pt x="68036" y="321469"/>
                </a:cubicBezTo>
                <a:lnTo>
                  <a:pt x="6804" y="250031"/>
                </a:lnTo>
                <a:cubicBezTo>
                  <a:pt x="-4507" y="236860"/>
                  <a:pt x="-1446" y="218256"/>
                  <a:pt x="13607" y="208359"/>
                </a:cubicBezTo>
                <a:cubicBezTo>
                  <a:pt x="28660" y="198462"/>
                  <a:pt x="49921" y="201141"/>
                  <a:pt x="61232" y="214313"/>
                </a:cubicBezTo>
                <a:lnTo>
                  <a:pt x="108857" y="269900"/>
                </a:lnTo>
                <a:lnTo>
                  <a:pt x="108857" y="29766"/>
                </a:lnTo>
                <a:close/>
                <a:moveTo>
                  <a:pt x="204107" y="226219"/>
                </a:moveTo>
                <a:cubicBezTo>
                  <a:pt x="204107" y="219670"/>
                  <a:pt x="197984" y="214313"/>
                  <a:pt x="190500" y="214313"/>
                </a:cubicBezTo>
                <a:cubicBezTo>
                  <a:pt x="183016" y="214313"/>
                  <a:pt x="176893" y="219670"/>
                  <a:pt x="176893" y="226219"/>
                </a:cubicBezTo>
                <a:lnTo>
                  <a:pt x="176893" y="297656"/>
                </a:lnTo>
                <a:cubicBezTo>
                  <a:pt x="176893" y="304205"/>
                  <a:pt x="183016" y="309563"/>
                  <a:pt x="190500" y="309563"/>
                </a:cubicBezTo>
                <a:cubicBezTo>
                  <a:pt x="197984" y="309563"/>
                  <a:pt x="204107" y="304205"/>
                  <a:pt x="204107" y="297656"/>
                </a:cubicBezTo>
                <a:lnTo>
                  <a:pt x="204107" y="226219"/>
                </a:lnTo>
                <a:close/>
                <a:moveTo>
                  <a:pt x="244929" y="214313"/>
                </a:moveTo>
                <a:cubicBezTo>
                  <a:pt x="237445" y="214313"/>
                  <a:pt x="231321" y="219670"/>
                  <a:pt x="231321" y="226219"/>
                </a:cubicBezTo>
                <a:lnTo>
                  <a:pt x="231321" y="297656"/>
                </a:lnTo>
                <a:cubicBezTo>
                  <a:pt x="231321" y="304205"/>
                  <a:pt x="237445" y="309563"/>
                  <a:pt x="244929" y="309563"/>
                </a:cubicBezTo>
                <a:cubicBezTo>
                  <a:pt x="252413" y="309563"/>
                  <a:pt x="258536" y="304205"/>
                  <a:pt x="258536" y="297656"/>
                </a:cubicBezTo>
                <a:lnTo>
                  <a:pt x="258536" y="226219"/>
                </a:lnTo>
                <a:cubicBezTo>
                  <a:pt x="258536" y="219670"/>
                  <a:pt x="252413" y="214313"/>
                  <a:pt x="244929" y="214313"/>
                </a:cubicBezTo>
                <a:close/>
                <a:moveTo>
                  <a:pt x="312964" y="226219"/>
                </a:moveTo>
                <a:cubicBezTo>
                  <a:pt x="312964" y="219670"/>
                  <a:pt x="306841" y="214313"/>
                  <a:pt x="299357" y="214313"/>
                </a:cubicBezTo>
                <a:cubicBezTo>
                  <a:pt x="291873" y="214313"/>
                  <a:pt x="285750" y="219670"/>
                  <a:pt x="285750" y="226219"/>
                </a:cubicBezTo>
                <a:lnTo>
                  <a:pt x="285750" y="297656"/>
                </a:lnTo>
                <a:cubicBezTo>
                  <a:pt x="285750" y="304205"/>
                  <a:pt x="291873" y="309563"/>
                  <a:pt x="299357" y="309563"/>
                </a:cubicBezTo>
                <a:cubicBezTo>
                  <a:pt x="306841" y="309563"/>
                  <a:pt x="312964" y="304205"/>
                  <a:pt x="312964" y="297656"/>
                </a:cubicBezTo>
                <a:lnTo>
                  <a:pt x="312964" y="226219"/>
                </a:lnTo>
                <a:close/>
              </a:path>
            </a:pathLst>
          </a:custGeom>
          <a:solidFill>
            <a:srgbClr val="C8553D"/>
          </a:solidFill>
          <a:ln/>
        </p:spPr>
      </p:sp>
      <p:sp>
        <p:nvSpPr>
          <p:cNvPr id="28" name="Text 25"/>
          <p:cNvSpPr/>
          <p:nvPr/>
        </p:nvSpPr>
        <p:spPr>
          <a:xfrm>
            <a:off x="8534400" y="6477000"/>
            <a:ext cx="292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855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Usabilidade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534400" y="6858000"/>
            <a:ext cx="292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 gráfica intuitiva por abas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2039600" y="5715000"/>
            <a:ext cx="3429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2039600" y="5715000"/>
            <a:ext cx="3429000" cy="5080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32" name="Shape 29"/>
          <p:cNvSpPr/>
          <p:nvPr/>
        </p:nvSpPr>
        <p:spPr>
          <a:xfrm>
            <a:off x="12293600" y="5969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253305" y="158279"/>
                </a:moveTo>
                <a:lnTo>
                  <a:pt x="193774" y="253529"/>
                </a:lnTo>
                <a:cubicBezTo>
                  <a:pt x="190649" y="258514"/>
                  <a:pt x="185291" y="261640"/>
                  <a:pt x="179412" y="261938"/>
                </a:cubicBezTo>
                <a:cubicBezTo>
                  <a:pt x="173534" y="262235"/>
                  <a:pt x="167878" y="259556"/>
                  <a:pt x="164381" y="254794"/>
                </a:cubicBezTo>
                <a:lnTo>
                  <a:pt x="128662" y="207169"/>
                </a:lnTo>
                <a:cubicBezTo>
                  <a:pt x="122709" y="199281"/>
                  <a:pt x="124346" y="188119"/>
                  <a:pt x="132234" y="182166"/>
                </a:cubicBezTo>
                <a:cubicBezTo>
                  <a:pt x="140122" y="176212"/>
                  <a:pt x="151284" y="177850"/>
                  <a:pt x="157237" y="185738"/>
                </a:cubicBezTo>
                <a:lnTo>
                  <a:pt x="177329" y="212527"/>
                </a:lnTo>
                <a:lnTo>
                  <a:pt x="223019" y="139378"/>
                </a:lnTo>
                <a:cubicBezTo>
                  <a:pt x="228228" y="131043"/>
                  <a:pt x="239241" y="128439"/>
                  <a:pt x="247650" y="133722"/>
                </a:cubicBezTo>
                <a:cubicBezTo>
                  <a:pt x="256059" y="139005"/>
                  <a:pt x="258589" y="149944"/>
                  <a:pt x="253305" y="158353"/>
                </a:cubicBezTo>
                <a:close/>
              </a:path>
            </a:pathLst>
          </a:custGeom>
          <a:solidFill>
            <a:srgbClr val="C8553D"/>
          </a:solidFill>
          <a:ln/>
        </p:spPr>
      </p:sp>
      <p:sp>
        <p:nvSpPr>
          <p:cNvPr id="33" name="Text 30"/>
          <p:cNvSpPr/>
          <p:nvPr/>
        </p:nvSpPr>
        <p:spPr>
          <a:xfrm>
            <a:off x="12293600" y="6477000"/>
            <a:ext cx="292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855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Disponibilidade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2293600" y="6858000"/>
            <a:ext cx="292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Modo demonstração sem BD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762000" y="8255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B7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Universidade Kimpa Vita | Engenharia Informática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4732000" y="8255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B7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32000"/>
            <a:ext cx="381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62000" y="3683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Modelagem do Sistema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4445000"/>
            <a:ext cx="1016000" cy="5080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4699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Diagrama de classes UML e Modelo Entidade-Relacionamento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1B5E5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63D3D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0" y="76200"/>
            <a:ext cx="2159000" cy="381000"/>
          </a:xfrm>
          <a:prstGeom prst="rect">
            <a:avLst/>
          </a:prstGeom>
          <a:solidFill>
            <a:srgbClr val="FFFFFF">
              <a:alpha val="12549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270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Introdução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4765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Objetivos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260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Fundamentação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755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Requisitos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Modelagem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745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Estrutura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224000" y="7620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Conclusão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7874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Diagrama de Classes UML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346200"/>
            <a:ext cx="635000" cy="38100"/>
          </a:xfrm>
          <a:prstGeom prst="rect">
            <a:avLst/>
          </a:prstGeom>
          <a:solidFill>
            <a:srgbClr val="C8553D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651000"/>
          <a:ext cx="14732000" cy="4318000"/>
        </p:xfrm>
        <a:graphic>
          <a:graphicData uri="http://schemas.openxmlformats.org/drawingml/2006/table">
            <a:tbl>
              <a:tblPr/>
              <a:tblGrid>
                <a:gridCol w="2946400"/>
                <a:gridCol w="2209800"/>
                <a:gridCol w="9575800"/>
              </a:tblGrid>
              <a:tr h="5397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Classe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Pacote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Responsabilidade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Paciente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Model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Dados do paciente (nome, CPF, telefone, data nascimento)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Medico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Model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Dados do medico (nome, CPF, CRM, especialidade)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Consulta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Model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Agendamento de consultas (paciente, medico, data, status)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Prontuario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Model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Registo clinico do paciente (descricao, data atualizacao)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Usuario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Model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Utilizador do sistema (login, senha, perfil)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Perfil (enum)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Model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ADMINISTRADOR, MEDICO, RECEPCIONISTA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PacienteDAOImpl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Dao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Acesso a base de dados para pacientes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762000" y="62230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i="1" dirty="0">
                <a:solidFill>
                  <a:srgbClr val="6B7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Classes principais do sistema organizadas por pacotes (Model, Dao, Util).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2000" y="8255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B7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Universidade Kimpa Vita | Engenharia Informatica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4732000" y="8255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B7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63D3D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0" y="76200"/>
            <a:ext cx="2159000" cy="381000"/>
          </a:xfrm>
          <a:prstGeom prst="rect">
            <a:avLst/>
          </a:prstGeom>
          <a:solidFill>
            <a:srgbClr val="FFFFFF">
              <a:alpha val="12549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270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Introdução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4765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Objetivos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260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Fundamentação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755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Requisitos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Modelagem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745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Estrutura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224000" y="7620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Conclusão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787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Modelo Entidade-Relacionamento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346200"/>
            <a:ext cx="635000" cy="38100"/>
          </a:xfrm>
          <a:prstGeom prst="rect">
            <a:avLst/>
          </a:prstGeom>
          <a:solidFill>
            <a:srgbClr val="C8553D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651000"/>
          <a:ext cx="14732000" cy="3810000"/>
        </p:xfrm>
        <a:graphic>
          <a:graphicData uri="http://schemas.openxmlformats.org/drawingml/2006/table">
            <a:tbl>
              <a:tblPr/>
              <a:tblGrid>
                <a:gridCol w="2209800"/>
                <a:gridCol w="5892800"/>
                <a:gridCol w="2946400"/>
                <a:gridCol w="3683000"/>
              </a:tblGrid>
              <a:tr h="63627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Tabela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Campos Principais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Relações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Descrição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Paciente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id, nome, cpf, telefone, data_nasc, ativo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-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Dados pessoais do paciente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Medico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id, nome, cpf, crm, especialidade, ativo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-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Dados do médico e especialidade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Consulta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id, paciente_id, medico_id, data_hora, motivo, status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paciente, medico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Agendamento de consulta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Prontuario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id, paciente_id, descricao, data_atualizacao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paciente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Registo clínico do paciente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Usuario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id, nome, login, senha, perfil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-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Utilizador do sistema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762000" y="5778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Relações entre Entidades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524000" y="6477000"/>
            <a:ext cx="2032000" cy="6350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16" name="Text 13"/>
          <p:cNvSpPr/>
          <p:nvPr/>
        </p:nvSpPr>
        <p:spPr>
          <a:xfrm>
            <a:off x="1524000" y="6477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PACIENTE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350000" y="6477000"/>
            <a:ext cx="2032000" cy="6350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18" name="Text 15"/>
          <p:cNvSpPr/>
          <p:nvPr/>
        </p:nvSpPr>
        <p:spPr>
          <a:xfrm>
            <a:off x="6350000" y="6477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MEDICO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937000" y="7620000"/>
            <a:ext cx="2032000" cy="63500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20" name="Text 17"/>
          <p:cNvSpPr/>
          <p:nvPr/>
        </p:nvSpPr>
        <p:spPr>
          <a:xfrm>
            <a:off x="3937000" y="7620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CONSULTA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1430000" y="6477000"/>
            <a:ext cx="2032000" cy="635000"/>
          </a:xfrm>
          <a:prstGeom prst="rect">
            <a:avLst/>
          </a:prstGeom>
          <a:solidFill>
            <a:srgbClr val="6B7B8C"/>
          </a:solidFill>
          <a:ln/>
        </p:spPr>
      </p:sp>
      <p:sp>
        <p:nvSpPr>
          <p:cNvPr id="22" name="Text 19"/>
          <p:cNvSpPr/>
          <p:nvPr/>
        </p:nvSpPr>
        <p:spPr>
          <a:xfrm>
            <a:off x="11430000" y="6477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PRONTUARIO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492375" y="7048500"/>
            <a:ext cx="1492250" cy="841375"/>
          </a:xfrm>
          <a:prstGeom prst="straightConnector1">
            <a:avLst/>
          </a:prstGeom>
          <a:noFill/>
          <a:ln w="25400">
            <a:solidFill>
              <a:srgbClr val="1B5E5E"/>
            </a:solidFill>
            <a:prstDash val="solid"/>
            <a:headEnd type="none"/>
            <a:tailEnd type="none"/>
          </a:ln>
        </p:spPr>
      </p:sp>
      <p:sp>
        <p:nvSpPr>
          <p:cNvPr id="24" name="Shape 21"/>
          <p:cNvSpPr/>
          <p:nvPr/>
        </p:nvSpPr>
        <p:spPr>
          <a:xfrm flipH="1">
            <a:off x="5969000" y="7112000"/>
            <a:ext cx="1016000" cy="508000"/>
          </a:xfrm>
          <a:prstGeom prst="straightConnector1">
            <a:avLst/>
          </a:prstGeom>
          <a:noFill/>
          <a:ln w="25400">
            <a:solidFill>
              <a:srgbClr val="1B5E5E"/>
            </a:solidFill>
            <a:prstDash val="solid"/>
            <a:headEnd type="none"/>
            <a:tailEnd type="none"/>
          </a:ln>
        </p:spPr>
      </p:sp>
      <p:sp>
        <p:nvSpPr>
          <p:cNvPr id="25" name="Shape 22"/>
          <p:cNvSpPr/>
          <p:nvPr/>
        </p:nvSpPr>
        <p:spPr>
          <a:xfrm>
            <a:off x="8382000" y="6794500"/>
            <a:ext cx="3048000" cy="0"/>
          </a:xfrm>
          <a:prstGeom prst="straightConnector1">
            <a:avLst/>
          </a:prstGeom>
          <a:noFill/>
          <a:ln w="25400">
            <a:solidFill>
              <a:srgbClr val="6B7B8C"/>
            </a:solidFill>
            <a:prstDash val="solid"/>
            <a:headEnd type="none"/>
            <a:tailEnd type="none"/>
          </a:ln>
        </p:spPr>
      </p:sp>
      <p:sp>
        <p:nvSpPr>
          <p:cNvPr id="26" name="Text 23"/>
          <p:cNvSpPr/>
          <p:nvPr/>
        </p:nvSpPr>
        <p:spPr>
          <a:xfrm>
            <a:off x="4191000" y="69850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6B7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agenda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144000" y="68580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6B7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possui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62000" y="8255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B7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Universidade Kimpa Vita | Engenharia Informática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4732000" y="8255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B7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32000"/>
            <a:ext cx="381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62000" y="3683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Estrutura do Projeto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4445000"/>
            <a:ext cx="1016000" cy="5080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4699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Organizaçao do codigo em camadas e pacotes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1B5E5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63D3D"/>
          </a:solidFill>
          <a:ln/>
        </p:spPr>
      </p:sp>
      <p:sp>
        <p:nvSpPr>
          <p:cNvPr id="3" name="Shape 1"/>
          <p:cNvSpPr/>
          <p:nvPr/>
        </p:nvSpPr>
        <p:spPr>
          <a:xfrm>
            <a:off x="11874500" y="76200"/>
            <a:ext cx="2159000" cy="381000"/>
          </a:xfrm>
          <a:prstGeom prst="rect">
            <a:avLst/>
          </a:prstGeom>
          <a:solidFill>
            <a:srgbClr val="FFFFFF">
              <a:alpha val="12549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270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Introdução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4765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Objetivos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260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Fundamentação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755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Requisitos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Modelagem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745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Estrutura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224000" y="7620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Conclusão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7874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Arquitetura em Camadas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346200"/>
            <a:ext cx="635000" cy="3810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1651000"/>
            <a:ext cx="2794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2000" y="1651000"/>
            <a:ext cx="2794000" cy="635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6000" y="196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5783" y="-1736"/>
                </a:moveTo>
                <a:cubicBezTo>
                  <a:pt x="169535" y="-9654"/>
                  <a:pt x="186482" y="-9654"/>
                  <a:pt x="200233" y="-1736"/>
                </a:cubicBezTo>
                <a:lnTo>
                  <a:pt x="322401" y="68759"/>
                </a:lnTo>
                <a:cubicBezTo>
                  <a:pt x="336153" y="76676"/>
                  <a:pt x="344626" y="91400"/>
                  <a:pt x="344626" y="107236"/>
                </a:cubicBezTo>
                <a:lnTo>
                  <a:pt x="344626" y="248225"/>
                </a:lnTo>
                <a:cubicBezTo>
                  <a:pt x="344626" y="264130"/>
                  <a:pt x="336153" y="278785"/>
                  <a:pt x="322401" y="286702"/>
                </a:cubicBezTo>
                <a:lnTo>
                  <a:pt x="200233" y="357336"/>
                </a:lnTo>
                <a:cubicBezTo>
                  <a:pt x="186482" y="365254"/>
                  <a:pt x="169535" y="365254"/>
                  <a:pt x="155783" y="357336"/>
                </a:cubicBezTo>
                <a:lnTo>
                  <a:pt x="33685" y="286841"/>
                </a:lnTo>
                <a:cubicBezTo>
                  <a:pt x="19933" y="278924"/>
                  <a:pt x="11460" y="264200"/>
                  <a:pt x="11460" y="248364"/>
                </a:cubicBezTo>
                <a:lnTo>
                  <a:pt x="11460" y="107375"/>
                </a:lnTo>
                <a:cubicBezTo>
                  <a:pt x="11460" y="91470"/>
                  <a:pt x="19933" y="76815"/>
                  <a:pt x="33685" y="68898"/>
                </a:cubicBezTo>
                <a:lnTo>
                  <a:pt x="155783" y="-1736"/>
                </a:lnTo>
                <a:close/>
                <a:moveTo>
                  <a:pt x="300107" y="248295"/>
                </a:moveTo>
                <a:lnTo>
                  <a:pt x="300107" y="132933"/>
                </a:lnTo>
                <a:lnTo>
                  <a:pt x="200233" y="190579"/>
                </a:lnTo>
                <a:lnTo>
                  <a:pt x="200233" y="305941"/>
                </a:lnTo>
                <a:lnTo>
                  <a:pt x="300107" y="248295"/>
                </a:lnTo>
                <a:close/>
              </a:path>
            </a:pathLst>
          </a:custGeom>
          <a:solidFill>
            <a:srgbClr val="1B5E5E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24765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2895600"/>
            <a:ext cx="2286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Classes de dominio: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Paciente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Medico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Consulta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Prontuario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Usuario, Perfil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73500" y="1651000"/>
            <a:ext cx="2794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73500" y="1651000"/>
            <a:ext cx="2794000" cy="635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20" name="Shape 18"/>
          <p:cNvSpPr/>
          <p:nvPr/>
        </p:nvSpPr>
        <p:spPr>
          <a:xfrm>
            <a:off x="4127500" y="196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22225"/>
                </a:moveTo>
                <a:cubicBezTo>
                  <a:pt x="127917" y="22225"/>
                  <a:pt x="87974" y="47784"/>
                  <a:pt x="58896" y="78204"/>
                </a:cubicBezTo>
                <a:cubicBezTo>
                  <a:pt x="30004" y="108416"/>
                  <a:pt x="10680" y="144463"/>
                  <a:pt x="1482" y="169257"/>
                </a:cubicBezTo>
                <a:cubicBezTo>
                  <a:pt x="-556" y="174744"/>
                  <a:pt x="-556" y="180856"/>
                  <a:pt x="1482" y="186343"/>
                </a:cubicBezTo>
                <a:cubicBezTo>
                  <a:pt x="10680" y="211138"/>
                  <a:pt x="30004" y="247253"/>
                  <a:pt x="58896" y="277396"/>
                </a:cubicBezTo>
                <a:cubicBezTo>
                  <a:pt x="87974" y="307747"/>
                  <a:pt x="127917" y="333375"/>
                  <a:pt x="177800" y="333375"/>
                </a:cubicBezTo>
                <a:cubicBezTo>
                  <a:pt x="227683" y="333375"/>
                  <a:pt x="267626" y="307816"/>
                  <a:pt x="296704" y="277396"/>
                </a:cubicBezTo>
                <a:cubicBezTo>
                  <a:pt x="325596" y="247184"/>
                  <a:pt x="344920" y="211138"/>
                  <a:pt x="354118" y="186343"/>
                </a:cubicBezTo>
                <a:cubicBezTo>
                  <a:pt x="356156" y="180856"/>
                  <a:pt x="356156" y="174744"/>
                  <a:pt x="354118" y="169257"/>
                </a:cubicBezTo>
                <a:cubicBezTo>
                  <a:pt x="344920" y="144462"/>
                  <a:pt x="325596" y="108347"/>
                  <a:pt x="296704" y="78204"/>
                </a:cubicBezTo>
                <a:cubicBezTo>
                  <a:pt x="267626" y="47853"/>
                  <a:pt x="227683" y="22225"/>
                  <a:pt x="177800" y="22225"/>
                </a:cubicBezTo>
                <a:close/>
                <a:moveTo>
                  <a:pt x="88900" y="177800"/>
                </a:moveTo>
                <a:cubicBezTo>
                  <a:pt x="88900" y="122602"/>
                  <a:pt x="128735" y="77788"/>
                  <a:pt x="177800" y="77788"/>
                </a:cubicBezTo>
                <a:cubicBezTo>
                  <a:pt x="226865" y="77788"/>
                  <a:pt x="266700" y="122602"/>
                  <a:pt x="266700" y="177800"/>
                </a:cubicBezTo>
                <a:cubicBezTo>
                  <a:pt x="266700" y="232998"/>
                  <a:pt x="226865" y="277813"/>
                  <a:pt x="177800" y="277813"/>
                </a:cubicBezTo>
                <a:cubicBezTo>
                  <a:pt x="128735" y="277813"/>
                  <a:pt x="88900" y="232998"/>
                  <a:pt x="88900" y="177800"/>
                </a:cubicBezTo>
                <a:close/>
                <a:moveTo>
                  <a:pt x="177800" y="133350"/>
                </a:moveTo>
                <a:cubicBezTo>
                  <a:pt x="177800" y="157867"/>
                  <a:pt x="160082" y="177800"/>
                  <a:pt x="138289" y="177800"/>
                </a:cubicBezTo>
                <a:cubicBezTo>
                  <a:pt x="131189" y="177800"/>
                  <a:pt x="124522" y="175716"/>
                  <a:pt x="118719" y="171966"/>
                </a:cubicBezTo>
                <a:cubicBezTo>
                  <a:pt x="118101" y="179536"/>
                  <a:pt x="118657" y="187315"/>
                  <a:pt x="120509" y="195024"/>
                </a:cubicBezTo>
                <a:cubicBezTo>
                  <a:pt x="128967" y="230584"/>
                  <a:pt x="161502" y="251698"/>
                  <a:pt x="193111" y="242183"/>
                </a:cubicBezTo>
                <a:cubicBezTo>
                  <a:pt x="224719" y="232668"/>
                  <a:pt x="243487" y="196066"/>
                  <a:pt x="235029" y="160506"/>
                </a:cubicBezTo>
                <a:cubicBezTo>
                  <a:pt x="227498" y="128766"/>
                  <a:pt x="200766" y="108555"/>
                  <a:pt x="172614" y="111333"/>
                </a:cubicBezTo>
                <a:cubicBezTo>
                  <a:pt x="175886" y="117793"/>
                  <a:pt x="177800" y="125293"/>
                  <a:pt x="177800" y="133350"/>
                </a:cubicBezTo>
                <a:close/>
              </a:path>
            </a:pathLst>
          </a:custGeom>
          <a:solidFill>
            <a:srgbClr val="1B5E5E"/>
          </a:solidFill>
          <a:ln/>
        </p:spPr>
      </p:sp>
      <p:sp>
        <p:nvSpPr>
          <p:cNvPr id="21" name="Text 19"/>
          <p:cNvSpPr/>
          <p:nvPr/>
        </p:nvSpPr>
        <p:spPr>
          <a:xfrm>
            <a:off x="4127500" y="24765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View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127500" y="2895600"/>
            <a:ext cx="2286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Interfaces graficas: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PacienteView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MedicoView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ConsultaView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LoginView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MainView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985000" y="1651000"/>
            <a:ext cx="2794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85000" y="1651000"/>
            <a:ext cx="2794000" cy="6350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25" name="Shape 23"/>
          <p:cNvSpPr/>
          <p:nvPr/>
        </p:nvSpPr>
        <p:spPr>
          <a:xfrm>
            <a:off x="7239000" y="196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31084" y="146199"/>
                </a:moveTo>
                <a:cubicBezTo>
                  <a:pt x="237863" y="143907"/>
                  <a:pt x="244975" y="147935"/>
                  <a:pt x="248031" y="155783"/>
                </a:cubicBezTo>
                <a:lnTo>
                  <a:pt x="258366" y="181898"/>
                </a:lnTo>
                <a:cubicBezTo>
                  <a:pt x="264089" y="182870"/>
                  <a:pt x="269700" y="184815"/>
                  <a:pt x="274979" y="187523"/>
                </a:cubicBezTo>
                <a:lnTo>
                  <a:pt x="294426" y="171341"/>
                </a:lnTo>
                <a:cubicBezTo>
                  <a:pt x="300260" y="166479"/>
                  <a:pt x="307983" y="167451"/>
                  <a:pt x="312928" y="173633"/>
                </a:cubicBezTo>
                <a:lnTo>
                  <a:pt x="323596" y="186968"/>
                </a:lnTo>
                <a:cubicBezTo>
                  <a:pt x="328541" y="193149"/>
                  <a:pt x="329319" y="202873"/>
                  <a:pt x="325430" y="210096"/>
                </a:cubicBezTo>
                <a:lnTo>
                  <a:pt x="312483" y="234335"/>
                </a:lnTo>
                <a:cubicBezTo>
                  <a:pt x="313539" y="237599"/>
                  <a:pt x="314484" y="241002"/>
                  <a:pt x="315262" y="244544"/>
                </a:cubicBezTo>
                <a:cubicBezTo>
                  <a:pt x="316039" y="248087"/>
                  <a:pt x="316540" y="251559"/>
                  <a:pt x="316928" y="255101"/>
                </a:cubicBezTo>
                <a:lnTo>
                  <a:pt x="337876" y="268020"/>
                </a:lnTo>
                <a:cubicBezTo>
                  <a:pt x="344154" y="271909"/>
                  <a:pt x="347377" y="280799"/>
                  <a:pt x="345543" y="289203"/>
                </a:cubicBezTo>
                <a:lnTo>
                  <a:pt x="341654" y="307400"/>
                </a:lnTo>
                <a:cubicBezTo>
                  <a:pt x="339820" y="315803"/>
                  <a:pt x="333542" y="321499"/>
                  <a:pt x="326541" y="320943"/>
                </a:cubicBezTo>
                <a:lnTo>
                  <a:pt x="303205" y="319068"/>
                </a:lnTo>
                <a:cubicBezTo>
                  <a:pt x="299704" y="324693"/>
                  <a:pt x="295648" y="329902"/>
                  <a:pt x="291036" y="334347"/>
                </a:cubicBezTo>
                <a:lnTo>
                  <a:pt x="292537" y="363448"/>
                </a:lnTo>
                <a:cubicBezTo>
                  <a:pt x="292981" y="372199"/>
                  <a:pt x="288425" y="380117"/>
                  <a:pt x="281702" y="382339"/>
                </a:cubicBezTo>
                <a:lnTo>
                  <a:pt x="267145" y="387201"/>
                </a:lnTo>
                <a:cubicBezTo>
                  <a:pt x="260366" y="389493"/>
                  <a:pt x="253309" y="385465"/>
                  <a:pt x="250198" y="377617"/>
                </a:cubicBezTo>
                <a:lnTo>
                  <a:pt x="239863" y="351502"/>
                </a:lnTo>
                <a:cubicBezTo>
                  <a:pt x="234140" y="350530"/>
                  <a:pt x="228529" y="348585"/>
                  <a:pt x="223250" y="345877"/>
                </a:cubicBezTo>
                <a:lnTo>
                  <a:pt x="203803" y="362059"/>
                </a:lnTo>
                <a:cubicBezTo>
                  <a:pt x="197969" y="366921"/>
                  <a:pt x="190246" y="365949"/>
                  <a:pt x="185301" y="359767"/>
                </a:cubicBezTo>
                <a:lnTo>
                  <a:pt x="174633" y="346432"/>
                </a:lnTo>
                <a:cubicBezTo>
                  <a:pt x="169688" y="340251"/>
                  <a:pt x="168910" y="330597"/>
                  <a:pt x="172799" y="323304"/>
                </a:cubicBezTo>
                <a:lnTo>
                  <a:pt x="185745" y="298996"/>
                </a:lnTo>
                <a:cubicBezTo>
                  <a:pt x="184690" y="295731"/>
                  <a:pt x="183745" y="292328"/>
                  <a:pt x="182967" y="288786"/>
                </a:cubicBezTo>
                <a:cubicBezTo>
                  <a:pt x="182189" y="285244"/>
                  <a:pt x="181689" y="281702"/>
                  <a:pt x="181300" y="278229"/>
                </a:cubicBezTo>
                <a:lnTo>
                  <a:pt x="160353" y="265311"/>
                </a:lnTo>
                <a:cubicBezTo>
                  <a:pt x="154075" y="261422"/>
                  <a:pt x="150908" y="252532"/>
                  <a:pt x="152686" y="244128"/>
                </a:cubicBezTo>
                <a:lnTo>
                  <a:pt x="156575" y="225931"/>
                </a:lnTo>
                <a:cubicBezTo>
                  <a:pt x="158409" y="217527"/>
                  <a:pt x="164687" y="211832"/>
                  <a:pt x="171688" y="212388"/>
                </a:cubicBezTo>
                <a:lnTo>
                  <a:pt x="194969" y="214263"/>
                </a:lnTo>
                <a:cubicBezTo>
                  <a:pt x="198469" y="208637"/>
                  <a:pt x="202525" y="203428"/>
                  <a:pt x="207137" y="198983"/>
                </a:cubicBezTo>
                <a:lnTo>
                  <a:pt x="205637" y="169952"/>
                </a:lnTo>
                <a:cubicBezTo>
                  <a:pt x="205192" y="161201"/>
                  <a:pt x="209748" y="153283"/>
                  <a:pt x="216471" y="151061"/>
                </a:cubicBezTo>
                <a:lnTo>
                  <a:pt x="231029" y="146199"/>
                </a:lnTo>
                <a:close/>
                <a:moveTo>
                  <a:pt x="249142" y="236141"/>
                </a:moveTo>
                <a:cubicBezTo>
                  <a:pt x="235649" y="236160"/>
                  <a:pt x="224707" y="249869"/>
                  <a:pt x="224723" y="266735"/>
                </a:cubicBezTo>
                <a:cubicBezTo>
                  <a:pt x="224738" y="283601"/>
                  <a:pt x="235705" y="297279"/>
                  <a:pt x="249198" y="297259"/>
                </a:cubicBezTo>
                <a:cubicBezTo>
                  <a:pt x="262691" y="297240"/>
                  <a:pt x="273633" y="283531"/>
                  <a:pt x="273618" y="266665"/>
                </a:cubicBezTo>
                <a:cubicBezTo>
                  <a:pt x="273602" y="249799"/>
                  <a:pt x="262635" y="236121"/>
                  <a:pt x="249142" y="236141"/>
                </a:cubicBezTo>
                <a:close/>
                <a:moveTo>
                  <a:pt x="124960" y="-31601"/>
                </a:moveTo>
                <a:lnTo>
                  <a:pt x="139517" y="-26739"/>
                </a:lnTo>
                <a:cubicBezTo>
                  <a:pt x="146241" y="-24448"/>
                  <a:pt x="150797" y="-16530"/>
                  <a:pt x="150352" y="-7848"/>
                </a:cubicBezTo>
                <a:lnTo>
                  <a:pt x="148852" y="21183"/>
                </a:lnTo>
                <a:cubicBezTo>
                  <a:pt x="153464" y="25628"/>
                  <a:pt x="157520" y="30768"/>
                  <a:pt x="161020" y="36463"/>
                </a:cubicBezTo>
                <a:lnTo>
                  <a:pt x="184356" y="34588"/>
                </a:lnTo>
                <a:cubicBezTo>
                  <a:pt x="191302" y="34032"/>
                  <a:pt x="197636" y="39727"/>
                  <a:pt x="199469" y="48131"/>
                </a:cubicBezTo>
                <a:lnTo>
                  <a:pt x="203359" y="66328"/>
                </a:lnTo>
                <a:cubicBezTo>
                  <a:pt x="205137" y="74732"/>
                  <a:pt x="201970" y="83622"/>
                  <a:pt x="195691" y="87511"/>
                </a:cubicBezTo>
                <a:lnTo>
                  <a:pt x="174744" y="100429"/>
                </a:lnTo>
                <a:cubicBezTo>
                  <a:pt x="174355" y="103971"/>
                  <a:pt x="173800" y="107513"/>
                  <a:pt x="173077" y="110986"/>
                </a:cubicBezTo>
                <a:cubicBezTo>
                  <a:pt x="172355" y="114459"/>
                  <a:pt x="171355" y="117931"/>
                  <a:pt x="170299" y="121196"/>
                </a:cubicBezTo>
                <a:lnTo>
                  <a:pt x="183245" y="145504"/>
                </a:lnTo>
                <a:cubicBezTo>
                  <a:pt x="187135" y="152797"/>
                  <a:pt x="186357" y="162451"/>
                  <a:pt x="181412" y="168632"/>
                </a:cubicBezTo>
                <a:lnTo>
                  <a:pt x="170744" y="181967"/>
                </a:lnTo>
                <a:cubicBezTo>
                  <a:pt x="165799" y="188149"/>
                  <a:pt x="158075" y="189121"/>
                  <a:pt x="152241" y="184259"/>
                </a:cubicBezTo>
                <a:lnTo>
                  <a:pt x="132794" y="168077"/>
                </a:lnTo>
                <a:cubicBezTo>
                  <a:pt x="127516" y="170785"/>
                  <a:pt x="121904" y="172730"/>
                  <a:pt x="116181" y="173702"/>
                </a:cubicBezTo>
                <a:lnTo>
                  <a:pt x="105847" y="199817"/>
                </a:lnTo>
                <a:cubicBezTo>
                  <a:pt x="102735" y="207665"/>
                  <a:pt x="95623" y="211624"/>
                  <a:pt x="88900" y="209401"/>
                </a:cubicBezTo>
                <a:lnTo>
                  <a:pt x="74343" y="204539"/>
                </a:lnTo>
                <a:cubicBezTo>
                  <a:pt x="67564" y="202248"/>
                  <a:pt x="63063" y="194330"/>
                  <a:pt x="63508" y="185648"/>
                </a:cubicBezTo>
                <a:lnTo>
                  <a:pt x="65008" y="156547"/>
                </a:lnTo>
                <a:cubicBezTo>
                  <a:pt x="60396" y="152102"/>
                  <a:pt x="56340" y="146963"/>
                  <a:pt x="52840" y="141268"/>
                </a:cubicBezTo>
                <a:lnTo>
                  <a:pt x="29504" y="143143"/>
                </a:lnTo>
                <a:cubicBezTo>
                  <a:pt x="22558" y="143699"/>
                  <a:pt x="16224" y="138003"/>
                  <a:pt x="14391" y="129600"/>
                </a:cubicBezTo>
                <a:lnTo>
                  <a:pt x="10501" y="111403"/>
                </a:lnTo>
                <a:cubicBezTo>
                  <a:pt x="8723" y="102999"/>
                  <a:pt x="11890" y="94109"/>
                  <a:pt x="18169" y="90220"/>
                </a:cubicBezTo>
                <a:lnTo>
                  <a:pt x="39116" y="77301"/>
                </a:lnTo>
                <a:cubicBezTo>
                  <a:pt x="39505" y="73759"/>
                  <a:pt x="40061" y="70287"/>
                  <a:pt x="40783" y="66744"/>
                </a:cubicBezTo>
                <a:cubicBezTo>
                  <a:pt x="41561" y="63202"/>
                  <a:pt x="42450" y="59799"/>
                  <a:pt x="43561" y="56535"/>
                </a:cubicBezTo>
                <a:lnTo>
                  <a:pt x="30615" y="32296"/>
                </a:lnTo>
                <a:cubicBezTo>
                  <a:pt x="26726" y="25003"/>
                  <a:pt x="27503" y="15349"/>
                  <a:pt x="32448" y="9168"/>
                </a:cubicBezTo>
                <a:lnTo>
                  <a:pt x="43116" y="-4167"/>
                </a:lnTo>
                <a:cubicBezTo>
                  <a:pt x="48062" y="-10349"/>
                  <a:pt x="55785" y="-11321"/>
                  <a:pt x="61619" y="-6459"/>
                </a:cubicBezTo>
                <a:lnTo>
                  <a:pt x="81066" y="9723"/>
                </a:lnTo>
                <a:cubicBezTo>
                  <a:pt x="86344" y="7015"/>
                  <a:pt x="91956" y="5070"/>
                  <a:pt x="97679" y="4098"/>
                </a:cubicBezTo>
                <a:lnTo>
                  <a:pt x="108013" y="-22017"/>
                </a:lnTo>
                <a:cubicBezTo>
                  <a:pt x="111125" y="-29865"/>
                  <a:pt x="118181" y="-33824"/>
                  <a:pt x="124960" y="-31601"/>
                </a:cubicBezTo>
                <a:close/>
                <a:moveTo>
                  <a:pt x="106902" y="58341"/>
                </a:moveTo>
                <a:cubicBezTo>
                  <a:pt x="93409" y="58341"/>
                  <a:pt x="82455" y="72034"/>
                  <a:pt x="82455" y="88900"/>
                </a:cubicBezTo>
                <a:cubicBezTo>
                  <a:pt x="82455" y="105766"/>
                  <a:pt x="93409" y="119459"/>
                  <a:pt x="106902" y="119459"/>
                </a:cubicBezTo>
                <a:cubicBezTo>
                  <a:pt x="120395" y="119459"/>
                  <a:pt x="131350" y="105766"/>
                  <a:pt x="131350" y="88900"/>
                </a:cubicBezTo>
                <a:cubicBezTo>
                  <a:pt x="131350" y="72034"/>
                  <a:pt x="120395" y="58341"/>
                  <a:pt x="106902" y="58341"/>
                </a:cubicBezTo>
                <a:close/>
              </a:path>
            </a:pathLst>
          </a:custGeom>
          <a:solidFill>
            <a:srgbClr val="C8553D"/>
          </a:solidFill>
          <a:ln/>
        </p:spPr>
      </p:sp>
      <p:sp>
        <p:nvSpPr>
          <p:cNvPr id="26" name="Text 24"/>
          <p:cNvSpPr/>
          <p:nvPr/>
        </p:nvSpPr>
        <p:spPr>
          <a:xfrm>
            <a:off x="7239000" y="24765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855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Controller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39000" y="2895600"/>
            <a:ext cx="2286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Logica de negocio: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PacienteController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MedicoController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ConsultaController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LoginController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MainController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096500" y="1651000"/>
            <a:ext cx="2794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96500" y="1651000"/>
            <a:ext cx="2794000" cy="6350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30" name="Shape 28"/>
          <p:cNvSpPr/>
          <p:nvPr/>
        </p:nvSpPr>
        <p:spPr>
          <a:xfrm>
            <a:off x="10350500" y="196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5600" y="142935"/>
                </a:moveTo>
                <a:cubicBezTo>
                  <a:pt x="343853" y="149741"/>
                  <a:pt x="330359" y="155228"/>
                  <a:pt x="316309" y="159603"/>
                </a:cubicBezTo>
                <a:cubicBezTo>
                  <a:pt x="279003" y="171271"/>
                  <a:pt x="230029" y="177800"/>
                  <a:pt x="177800" y="177800"/>
                </a:cubicBezTo>
                <a:cubicBezTo>
                  <a:pt x="125571" y="177800"/>
                  <a:pt x="76518" y="171202"/>
                  <a:pt x="39291" y="159603"/>
                </a:cubicBezTo>
                <a:cubicBezTo>
                  <a:pt x="25321" y="155228"/>
                  <a:pt x="11747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79613" y="255587"/>
                  <a:pt x="177800" y="255587"/>
                </a:cubicBezTo>
                <a:cubicBezTo>
                  <a:pt x="275987" y="255587"/>
                  <a:pt x="355600" y="230723"/>
                  <a:pt x="355600" y="200025"/>
                </a:cubicBezTo>
                <a:lnTo>
                  <a:pt x="355600" y="142935"/>
                </a:lnTo>
                <a:close/>
                <a:moveTo>
                  <a:pt x="355600" y="88900"/>
                </a:moveTo>
                <a:lnTo>
                  <a:pt x="355600" y="55563"/>
                </a:lnTo>
                <a:cubicBezTo>
                  <a:pt x="355600" y="24864"/>
                  <a:pt x="275987" y="0"/>
                  <a:pt x="177800" y="0"/>
                </a:cubicBezTo>
                <a:cubicBezTo>
                  <a:pt x="79613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79613" y="144463"/>
                  <a:pt x="177800" y="144463"/>
                </a:cubicBezTo>
                <a:cubicBezTo>
                  <a:pt x="275987" y="144463"/>
                  <a:pt x="355600" y="119598"/>
                  <a:pt x="355600" y="88900"/>
                </a:cubicBezTo>
                <a:close/>
                <a:moveTo>
                  <a:pt x="316309" y="270728"/>
                </a:moveTo>
                <a:cubicBezTo>
                  <a:pt x="279083" y="282327"/>
                  <a:pt x="230108" y="288925"/>
                  <a:pt x="177800" y="288925"/>
                </a:cubicBezTo>
                <a:cubicBezTo>
                  <a:pt x="125492" y="288925"/>
                  <a:pt x="76518" y="282327"/>
                  <a:pt x="39291" y="270728"/>
                </a:cubicBezTo>
                <a:cubicBezTo>
                  <a:pt x="25321" y="266353"/>
                  <a:pt x="11747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79613" y="355600"/>
                  <a:pt x="177800" y="355600"/>
                </a:cubicBezTo>
                <a:cubicBezTo>
                  <a:pt x="275987" y="355600"/>
                  <a:pt x="355600" y="330736"/>
                  <a:pt x="355600" y="300038"/>
                </a:cubicBezTo>
                <a:lnTo>
                  <a:pt x="355600" y="254060"/>
                </a:lnTo>
                <a:cubicBezTo>
                  <a:pt x="343853" y="260866"/>
                  <a:pt x="330359" y="266353"/>
                  <a:pt x="316309" y="270728"/>
                </a:cubicBezTo>
                <a:close/>
              </a:path>
            </a:pathLst>
          </a:custGeom>
          <a:solidFill>
            <a:srgbClr val="C8553D"/>
          </a:solidFill>
          <a:ln/>
        </p:spPr>
      </p:sp>
      <p:sp>
        <p:nvSpPr>
          <p:cNvPr id="31" name="Text 29"/>
          <p:cNvSpPr/>
          <p:nvPr/>
        </p:nvSpPr>
        <p:spPr>
          <a:xfrm>
            <a:off x="10350500" y="24765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855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DAO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350500" y="2895600"/>
            <a:ext cx="2286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Acesso a dados: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PacienteDAO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MedicoDAO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ConsultaDAO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Interfaces + Impl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3208000" y="1651000"/>
            <a:ext cx="2286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208000" y="1651000"/>
            <a:ext cx="2286000" cy="63500"/>
          </a:xfrm>
          <a:prstGeom prst="rect">
            <a:avLst/>
          </a:prstGeom>
          <a:solidFill>
            <a:srgbClr val="6B7B8C"/>
          </a:solidFill>
          <a:ln/>
        </p:spPr>
      </p:sp>
      <p:sp>
        <p:nvSpPr>
          <p:cNvPr id="35" name="Shape 33"/>
          <p:cNvSpPr/>
          <p:nvPr/>
        </p:nvSpPr>
        <p:spPr>
          <a:xfrm>
            <a:off x="13462000" y="196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14484" y="68481"/>
                </a:moveTo>
                <a:cubicBezTo>
                  <a:pt x="319176" y="63202"/>
                  <a:pt x="327016" y="64522"/>
                  <a:pt x="329362" y="71467"/>
                </a:cubicBezTo>
                <a:cubicBezTo>
                  <a:pt x="333560" y="83760"/>
                  <a:pt x="335844" y="97165"/>
                  <a:pt x="335844" y="111125"/>
                </a:cubicBezTo>
                <a:cubicBezTo>
                  <a:pt x="335844" y="172522"/>
                  <a:pt x="291641" y="222250"/>
                  <a:pt x="237067" y="222250"/>
                </a:cubicBezTo>
                <a:cubicBezTo>
                  <a:pt x="226263" y="222250"/>
                  <a:pt x="215829" y="220305"/>
                  <a:pt x="206075" y="216694"/>
                </a:cubicBezTo>
                <a:lnTo>
                  <a:pt x="90690" y="346502"/>
                </a:lnTo>
                <a:cubicBezTo>
                  <a:pt x="73343" y="366018"/>
                  <a:pt x="45191" y="366018"/>
                  <a:pt x="27843" y="346502"/>
                </a:cubicBezTo>
                <a:cubicBezTo>
                  <a:pt x="10495" y="326985"/>
                  <a:pt x="10495" y="295315"/>
                  <a:pt x="27843" y="275798"/>
                </a:cubicBezTo>
                <a:lnTo>
                  <a:pt x="143228" y="145990"/>
                </a:lnTo>
                <a:cubicBezTo>
                  <a:pt x="140018" y="135017"/>
                  <a:pt x="138289" y="123349"/>
                  <a:pt x="138289" y="111125"/>
                </a:cubicBezTo>
                <a:cubicBezTo>
                  <a:pt x="138289" y="49728"/>
                  <a:pt x="182492" y="0"/>
                  <a:pt x="237067" y="0"/>
                </a:cubicBezTo>
                <a:cubicBezTo>
                  <a:pt x="249476" y="0"/>
                  <a:pt x="261391" y="2570"/>
                  <a:pt x="272318" y="7293"/>
                </a:cubicBezTo>
                <a:cubicBezTo>
                  <a:pt x="278492" y="9932"/>
                  <a:pt x="279603" y="18752"/>
                  <a:pt x="274973" y="24031"/>
                </a:cubicBezTo>
                <a:lnTo>
                  <a:pt x="220213" y="85636"/>
                </a:lnTo>
                <a:cubicBezTo>
                  <a:pt x="218361" y="87719"/>
                  <a:pt x="217311" y="90567"/>
                  <a:pt x="217311" y="93484"/>
                </a:cubicBezTo>
                <a:lnTo>
                  <a:pt x="217311" y="122238"/>
                </a:lnTo>
                <a:cubicBezTo>
                  <a:pt x="217311" y="128349"/>
                  <a:pt x="221756" y="133350"/>
                  <a:pt x="227189" y="133350"/>
                </a:cubicBezTo>
                <a:lnTo>
                  <a:pt x="252748" y="133350"/>
                </a:lnTo>
                <a:cubicBezTo>
                  <a:pt x="255341" y="133350"/>
                  <a:pt x="257872" y="132169"/>
                  <a:pt x="259724" y="130086"/>
                </a:cubicBezTo>
                <a:lnTo>
                  <a:pt x="314484" y="68481"/>
                </a:lnTo>
                <a:close/>
              </a:path>
            </a:pathLst>
          </a:custGeom>
          <a:solidFill>
            <a:srgbClr val="6B7B8C"/>
          </a:solidFill>
          <a:ln/>
        </p:spPr>
      </p:sp>
      <p:sp>
        <p:nvSpPr>
          <p:cNvPr id="36" name="Text 34"/>
          <p:cNvSpPr/>
          <p:nvPr/>
        </p:nvSpPr>
        <p:spPr>
          <a:xfrm>
            <a:off x="13462000" y="24765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6B7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Util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3462000" y="2895600"/>
            <a:ext cx="1778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Utilitarios: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DBConnection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DateUtil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556000" y="2921000"/>
            <a:ext cx="317500" cy="0"/>
          </a:xfrm>
          <a:prstGeom prst="straightConnector1">
            <a:avLst/>
          </a:prstGeom>
          <a:noFill/>
          <a:ln w="25400">
            <a:solidFill>
              <a:srgbClr val="1B5E5E"/>
            </a:solidFill>
            <a:prstDash val="solid"/>
            <a:headEnd type="none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6667500" y="2921000"/>
            <a:ext cx="317500" cy="0"/>
          </a:xfrm>
          <a:prstGeom prst="straightConnector1">
            <a:avLst/>
          </a:prstGeom>
          <a:noFill/>
          <a:ln w="25400">
            <a:solidFill>
              <a:srgbClr val="1B5E5E"/>
            </a:solidFill>
            <a:prstDash val="solid"/>
            <a:headEnd type="none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9779000" y="2921000"/>
            <a:ext cx="317500" cy="0"/>
          </a:xfrm>
          <a:prstGeom prst="straightConnector1">
            <a:avLst/>
          </a:prstGeom>
          <a:noFill/>
          <a:ln w="25400">
            <a:solidFill>
              <a:srgbClr val="1B5E5E"/>
            </a:solidFill>
            <a:prstDash val="solid"/>
            <a:headEnd type="none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12890500" y="2921000"/>
            <a:ext cx="317500" cy="0"/>
          </a:xfrm>
          <a:prstGeom prst="straightConnector1">
            <a:avLst/>
          </a:prstGeom>
          <a:noFill/>
          <a:ln w="25400">
            <a:solidFill>
              <a:srgbClr val="1B5E5E"/>
            </a:solidFill>
            <a:prstDash val="solid"/>
            <a:headEnd type="none"/>
            <a:tailEnd type="arrow"/>
          </a:ln>
        </p:spPr>
      </p:sp>
      <p:sp>
        <p:nvSpPr>
          <p:cNvPr id="42" name="Text 40"/>
          <p:cNvSpPr/>
          <p:nvPr/>
        </p:nvSpPr>
        <p:spPr>
          <a:xfrm>
            <a:off x="762000" y="5016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 de Dados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762000" y="5461000"/>
            <a:ext cx="14732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2000" y="5461000"/>
            <a:ext cx="50800" cy="24130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45" name="Text 43"/>
          <p:cNvSpPr/>
          <p:nvPr/>
        </p:nvSpPr>
        <p:spPr>
          <a:xfrm>
            <a:off x="1079500" y="5588000"/>
            <a:ext cx="14097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Base de dados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MySQL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 nome 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clinica_medica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composta por 5 tabelas interligadas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Configuracao da ligacao via ficheiro 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database.properties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(host, porta, BD, utilizador, senha)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Suporte a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modo online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(com BD) e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modo demonstracao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(dados em memoria)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Classe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DBConnection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gere a ligacao ao MySQL de forma centralizada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62000" y="8255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B7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Universidade Kimpa Vita | Engenharia Informatica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4732000" y="8255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B7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63D3D"/>
          </a:solidFill>
          <a:ln/>
        </p:spPr>
      </p:sp>
      <p:sp>
        <p:nvSpPr>
          <p:cNvPr id="3" name="Shape 1"/>
          <p:cNvSpPr/>
          <p:nvPr/>
        </p:nvSpPr>
        <p:spPr>
          <a:xfrm>
            <a:off x="11874500" y="76200"/>
            <a:ext cx="2159000" cy="381000"/>
          </a:xfrm>
          <a:prstGeom prst="rect">
            <a:avLst/>
          </a:prstGeom>
          <a:solidFill>
            <a:srgbClr val="FFFFFF">
              <a:alpha val="12549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270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Introdução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4765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Objetivos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260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Fundamentação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755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Requisitos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Modelagem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745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Estrutura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224000" y="7620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Conclusão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7874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Funcionalidades Implementadas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346200"/>
            <a:ext cx="635000" cy="38100"/>
          </a:xfrm>
          <a:prstGeom prst="rect">
            <a:avLst/>
          </a:prstGeom>
          <a:solidFill>
            <a:srgbClr val="C8553D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651000"/>
          <a:ext cx="14732000" cy="3810000"/>
        </p:xfrm>
        <a:graphic>
          <a:graphicData uri="http://schemas.openxmlformats.org/drawingml/2006/table">
            <a:tbl>
              <a:tblPr/>
              <a:tblGrid>
                <a:gridCol w="4419600"/>
                <a:gridCol w="10312400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Tela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Funcionalidades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Login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Autenticação com validação de utilizador e palavra-passe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Dashboard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Menu principal com acesso rápido aos módulos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Gestão de Pacientes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CRUD completo com listagem em tabela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Gestão de Médicos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CRUD completo com especialidade e CRM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Agendamento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Seleção de paciente, médico, data/hora e motivo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Prontuários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Registo de descrição clínica por paciente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Relatórios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2D2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Listagem de pacientes ativos e consultas realizadas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762000" y="5778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Perfis de Acesso Testados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62000" y="6286500"/>
            <a:ext cx="4699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2000" y="6286500"/>
            <a:ext cx="50800" cy="152400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17" name="Shape 14"/>
          <p:cNvSpPr/>
          <p:nvPr/>
        </p:nvSpPr>
        <p:spPr>
          <a:xfrm>
            <a:off x="1016000" y="65405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28411" y="159941"/>
                </a:moveTo>
                <a:cubicBezTo>
                  <a:pt x="166378" y="159941"/>
                  <a:pt x="197203" y="125263"/>
                  <a:pt x="197203" y="82550"/>
                </a:cubicBezTo>
                <a:cubicBezTo>
                  <a:pt x="197203" y="39837"/>
                  <a:pt x="166378" y="5159"/>
                  <a:pt x="128411" y="5159"/>
                </a:cubicBezTo>
                <a:cubicBezTo>
                  <a:pt x="90444" y="5159"/>
                  <a:pt x="59619" y="39837"/>
                  <a:pt x="59619" y="82550"/>
                </a:cubicBezTo>
                <a:cubicBezTo>
                  <a:pt x="59619" y="125263"/>
                  <a:pt x="90444" y="159941"/>
                  <a:pt x="128411" y="159941"/>
                </a:cubicBezTo>
                <a:close/>
                <a:moveTo>
                  <a:pt x="111385" y="196056"/>
                </a:moveTo>
                <a:cubicBezTo>
                  <a:pt x="54919" y="196056"/>
                  <a:pt x="9172" y="247521"/>
                  <a:pt x="9172" y="311046"/>
                </a:cubicBezTo>
                <a:cubicBezTo>
                  <a:pt x="9172" y="321623"/>
                  <a:pt x="16797" y="330200"/>
                  <a:pt x="26198" y="330200"/>
                </a:cubicBezTo>
                <a:lnTo>
                  <a:pt x="170374" y="330200"/>
                </a:lnTo>
                <a:cubicBezTo>
                  <a:pt x="149622" y="302726"/>
                  <a:pt x="137583" y="267320"/>
                  <a:pt x="137583" y="229850"/>
                </a:cubicBezTo>
                <a:lnTo>
                  <a:pt x="137583" y="209793"/>
                </a:lnTo>
                <a:cubicBezTo>
                  <a:pt x="137583" y="205085"/>
                  <a:pt x="138157" y="200442"/>
                  <a:pt x="139246" y="196056"/>
                </a:cubicBezTo>
                <a:lnTo>
                  <a:pt x="111385" y="196056"/>
                </a:lnTo>
                <a:close/>
                <a:moveTo>
                  <a:pt x="255274" y="315044"/>
                </a:moveTo>
                <a:lnTo>
                  <a:pt x="247650" y="319107"/>
                </a:lnTo>
                <a:lnTo>
                  <a:pt x="247650" y="197798"/>
                </a:lnTo>
                <a:lnTo>
                  <a:pt x="302683" y="218435"/>
                </a:lnTo>
                <a:lnTo>
                  <a:pt x="302683" y="231076"/>
                </a:lnTo>
                <a:cubicBezTo>
                  <a:pt x="302683" y="267062"/>
                  <a:pt x="284224" y="299760"/>
                  <a:pt x="255274" y="315109"/>
                </a:cubicBezTo>
                <a:close/>
                <a:moveTo>
                  <a:pt x="241860" y="167357"/>
                </a:moveTo>
                <a:lnTo>
                  <a:pt x="177654" y="191413"/>
                </a:lnTo>
                <a:cubicBezTo>
                  <a:pt x="170145" y="194250"/>
                  <a:pt x="165100" y="202119"/>
                  <a:pt x="165100" y="211018"/>
                </a:cubicBezTo>
                <a:lnTo>
                  <a:pt x="165100" y="231076"/>
                </a:lnTo>
                <a:cubicBezTo>
                  <a:pt x="165100" y="279058"/>
                  <a:pt x="189750" y="322719"/>
                  <a:pt x="228274" y="343098"/>
                </a:cubicBezTo>
                <a:lnTo>
                  <a:pt x="238879" y="348709"/>
                </a:lnTo>
                <a:cubicBezTo>
                  <a:pt x="241631" y="350128"/>
                  <a:pt x="244612" y="350902"/>
                  <a:pt x="247593" y="350902"/>
                </a:cubicBezTo>
                <a:cubicBezTo>
                  <a:pt x="250574" y="350902"/>
                  <a:pt x="253612" y="350128"/>
                  <a:pt x="256306" y="348709"/>
                </a:cubicBezTo>
                <a:lnTo>
                  <a:pt x="266912" y="343098"/>
                </a:lnTo>
                <a:cubicBezTo>
                  <a:pt x="305550" y="322654"/>
                  <a:pt x="330200" y="278993"/>
                  <a:pt x="330200" y="231011"/>
                </a:cubicBezTo>
                <a:lnTo>
                  <a:pt x="330200" y="210954"/>
                </a:lnTo>
                <a:cubicBezTo>
                  <a:pt x="330200" y="202054"/>
                  <a:pt x="325155" y="194186"/>
                  <a:pt x="317646" y="191348"/>
                </a:cubicBezTo>
                <a:lnTo>
                  <a:pt x="253440" y="167293"/>
                </a:lnTo>
                <a:cubicBezTo>
                  <a:pt x="249656" y="165874"/>
                  <a:pt x="245586" y="165874"/>
                  <a:pt x="241860" y="167293"/>
                </a:cubicBezTo>
                <a:close/>
              </a:path>
            </a:pathLst>
          </a:custGeom>
          <a:solidFill>
            <a:srgbClr val="C8553D"/>
          </a:solidFill>
          <a:ln/>
        </p:spPr>
      </p:sp>
      <p:sp>
        <p:nvSpPr>
          <p:cNvPr id="18" name="Text 15"/>
          <p:cNvSpPr/>
          <p:nvPr/>
        </p:nvSpPr>
        <p:spPr>
          <a:xfrm>
            <a:off x="1473200" y="65024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855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Administrador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16000" y="6985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Acesso total a todos os módulos e funcionalidades do sistema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778500" y="6286500"/>
            <a:ext cx="4699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778500" y="6286500"/>
            <a:ext cx="50800" cy="15240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22" name="Shape 19"/>
          <p:cNvSpPr/>
          <p:nvPr/>
        </p:nvSpPr>
        <p:spPr>
          <a:xfrm>
            <a:off x="6032500" y="65405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5159"/>
                </a:moveTo>
                <a:cubicBezTo>
                  <a:pt x="116285" y="5159"/>
                  <a:pt x="76654" y="39837"/>
                  <a:pt x="76654" y="82550"/>
                </a:cubicBezTo>
                <a:cubicBezTo>
                  <a:pt x="76654" y="125263"/>
                  <a:pt x="116285" y="159941"/>
                  <a:pt x="165100" y="159941"/>
                </a:cubicBezTo>
                <a:cubicBezTo>
                  <a:pt x="213915" y="159941"/>
                  <a:pt x="253546" y="125263"/>
                  <a:pt x="253546" y="82550"/>
                </a:cubicBezTo>
                <a:cubicBezTo>
                  <a:pt x="253546" y="39837"/>
                  <a:pt x="213915" y="5159"/>
                  <a:pt x="165100" y="5159"/>
                </a:cubicBezTo>
                <a:close/>
                <a:moveTo>
                  <a:pt x="209323" y="206891"/>
                </a:moveTo>
                <a:cubicBezTo>
                  <a:pt x="205343" y="206568"/>
                  <a:pt x="201216" y="206375"/>
                  <a:pt x="197088" y="206375"/>
                </a:cubicBezTo>
                <a:lnTo>
                  <a:pt x="133038" y="206375"/>
                </a:lnTo>
                <a:cubicBezTo>
                  <a:pt x="128911" y="206375"/>
                  <a:pt x="124857" y="206568"/>
                  <a:pt x="120803" y="206891"/>
                </a:cubicBezTo>
                <a:lnTo>
                  <a:pt x="120803" y="250423"/>
                </a:lnTo>
                <a:cubicBezTo>
                  <a:pt x="132964" y="255325"/>
                  <a:pt x="141441" y="266095"/>
                  <a:pt x="141441" y="278542"/>
                </a:cubicBezTo>
                <a:cubicBezTo>
                  <a:pt x="141441" y="295632"/>
                  <a:pt x="125594" y="309498"/>
                  <a:pt x="106062" y="309498"/>
                </a:cubicBezTo>
                <a:cubicBezTo>
                  <a:pt x="86530" y="309498"/>
                  <a:pt x="70683" y="295632"/>
                  <a:pt x="70683" y="278542"/>
                </a:cubicBezTo>
                <a:cubicBezTo>
                  <a:pt x="70683" y="266030"/>
                  <a:pt x="79160" y="255260"/>
                  <a:pt x="91321" y="250423"/>
                </a:cubicBezTo>
                <a:lnTo>
                  <a:pt x="91321" y="212760"/>
                </a:lnTo>
                <a:cubicBezTo>
                  <a:pt x="44960" y="227657"/>
                  <a:pt x="11793" y="266740"/>
                  <a:pt x="11793" y="312529"/>
                </a:cubicBezTo>
                <a:cubicBezTo>
                  <a:pt x="11793" y="322267"/>
                  <a:pt x="20859" y="330200"/>
                  <a:pt x="31988" y="330200"/>
                </a:cubicBezTo>
                <a:lnTo>
                  <a:pt x="298138" y="330200"/>
                </a:lnTo>
                <a:cubicBezTo>
                  <a:pt x="309268" y="330200"/>
                  <a:pt x="318333" y="322267"/>
                  <a:pt x="318333" y="312529"/>
                </a:cubicBezTo>
                <a:cubicBezTo>
                  <a:pt x="318333" y="266740"/>
                  <a:pt x="285166" y="227722"/>
                  <a:pt x="238732" y="212824"/>
                </a:cubicBezTo>
                <a:lnTo>
                  <a:pt x="238732" y="236944"/>
                </a:lnTo>
                <a:cubicBezTo>
                  <a:pt x="255905" y="242233"/>
                  <a:pt x="268214" y="256614"/>
                  <a:pt x="268214" y="273447"/>
                </a:cubicBezTo>
                <a:lnTo>
                  <a:pt x="268214" y="294084"/>
                </a:lnTo>
                <a:cubicBezTo>
                  <a:pt x="268214" y="301179"/>
                  <a:pt x="261580" y="306983"/>
                  <a:pt x="253473" y="306983"/>
                </a:cubicBezTo>
                <a:cubicBezTo>
                  <a:pt x="245365" y="306983"/>
                  <a:pt x="238732" y="301179"/>
                  <a:pt x="238732" y="294084"/>
                </a:cubicBezTo>
                <a:lnTo>
                  <a:pt x="238732" y="273447"/>
                </a:lnTo>
                <a:cubicBezTo>
                  <a:pt x="238732" y="266353"/>
                  <a:pt x="232098" y="260548"/>
                  <a:pt x="223991" y="260548"/>
                </a:cubicBezTo>
                <a:cubicBezTo>
                  <a:pt x="215883" y="260548"/>
                  <a:pt x="209250" y="266353"/>
                  <a:pt x="209250" y="273447"/>
                </a:cubicBezTo>
                <a:lnTo>
                  <a:pt x="209250" y="294084"/>
                </a:lnTo>
                <a:cubicBezTo>
                  <a:pt x="209250" y="301179"/>
                  <a:pt x="202616" y="306983"/>
                  <a:pt x="194508" y="306983"/>
                </a:cubicBezTo>
                <a:cubicBezTo>
                  <a:pt x="186401" y="306983"/>
                  <a:pt x="179767" y="301179"/>
                  <a:pt x="179767" y="294084"/>
                </a:cubicBezTo>
                <a:lnTo>
                  <a:pt x="179767" y="273447"/>
                </a:lnTo>
                <a:cubicBezTo>
                  <a:pt x="179767" y="256614"/>
                  <a:pt x="192076" y="242297"/>
                  <a:pt x="209250" y="236944"/>
                </a:cubicBezTo>
                <a:lnTo>
                  <a:pt x="209250" y="206891"/>
                </a:lnTo>
                <a:close/>
              </a:path>
            </a:pathLst>
          </a:custGeom>
          <a:solidFill>
            <a:srgbClr val="1B5E5E"/>
          </a:solidFill>
          <a:ln/>
        </p:spPr>
      </p:sp>
      <p:sp>
        <p:nvSpPr>
          <p:cNvPr id="23" name="Text 20"/>
          <p:cNvSpPr/>
          <p:nvPr/>
        </p:nvSpPr>
        <p:spPr>
          <a:xfrm>
            <a:off x="6489700" y="65024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Médico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032500" y="6985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Acesso a consultas e prontuários dos pacientes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10795000" y="6286500"/>
            <a:ext cx="4699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795000" y="6286500"/>
            <a:ext cx="50800" cy="15240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27" name="Shape 24"/>
          <p:cNvSpPr/>
          <p:nvPr/>
        </p:nvSpPr>
        <p:spPr>
          <a:xfrm>
            <a:off x="11049000" y="65405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61912" y="0"/>
                </a:moveTo>
                <a:cubicBezTo>
                  <a:pt x="39147" y="0"/>
                  <a:pt x="20638" y="18509"/>
                  <a:pt x="20638" y="41275"/>
                </a:cubicBezTo>
                <a:lnTo>
                  <a:pt x="20638" y="288925"/>
                </a:lnTo>
                <a:cubicBezTo>
                  <a:pt x="20638" y="311691"/>
                  <a:pt x="39147" y="330200"/>
                  <a:pt x="61912" y="330200"/>
                </a:cubicBezTo>
                <a:lnTo>
                  <a:pt x="247650" y="330200"/>
                </a:lnTo>
                <a:cubicBezTo>
                  <a:pt x="270416" y="330200"/>
                  <a:pt x="288925" y="311691"/>
                  <a:pt x="288925" y="288925"/>
                </a:cubicBezTo>
                <a:lnTo>
                  <a:pt x="288925" y="41275"/>
                </a:lnTo>
                <a:cubicBezTo>
                  <a:pt x="288925" y="18509"/>
                  <a:pt x="270416" y="0"/>
                  <a:pt x="247650" y="0"/>
                </a:cubicBezTo>
                <a:lnTo>
                  <a:pt x="61912" y="0"/>
                </a:lnTo>
                <a:close/>
                <a:moveTo>
                  <a:pt x="134144" y="185738"/>
                </a:moveTo>
                <a:lnTo>
                  <a:pt x="175419" y="185738"/>
                </a:lnTo>
                <a:cubicBezTo>
                  <a:pt x="203924" y="185738"/>
                  <a:pt x="227013" y="208826"/>
                  <a:pt x="227013" y="237331"/>
                </a:cubicBezTo>
                <a:cubicBezTo>
                  <a:pt x="227013" y="243007"/>
                  <a:pt x="222369" y="247650"/>
                  <a:pt x="216694" y="247650"/>
                </a:cubicBezTo>
                <a:lnTo>
                  <a:pt x="92869" y="247650"/>
                </a:lnTo>
                <a:cubicBezTo>
                  <a:pt x="87193" y="247650"/>
                  <a:pt x="82550" y="243007"/>
                  <a:pt x="82550" y="237331"/>
                </a:cubicBezTo>
                <a:cubicBezTo>
                  <a:pt x="82550" y="208826"/>
                  <a:pt x="105638" y="185738"/>
                  <a:pt x="134144" y="185738"/>
                </a:cubicBezTo>
                <a:close/>
                <a:moveTo>
                  <a:pt x="118666" y="123825"/>
                </a:moveTo>
                <a:cubicBezTo>
                  <a:pt x="118666" y="103892"/>
                  <a:pt x="134848" y="87709"/>
                  <a:pt x="154781" y="87709"/>
                </a:cubicBezTo>
                <a:cubicBezTo>
                  <a:pt x="174714" y="87709"/>
                  <a:pt x="190897" y="103892"/>
                  <a:pt x="190897" y="123825"/>
                </a:cubicBezTo>
                <a:cubicBezTo>
                  <a:pt x="190897" y="143758"/>
                  <a:pt x="174714" y="159941"/>
                  <a:pt x="154781" y="159941"/>
                </a:cubicBezTo>
                <a:cubicBezTo>
                  <a:pt x="134848" y="159941"/>
                  <a:pt x="118666" y="143758"/>
                  <a:pt x="118666" y="123825"/>
                </a:cubicBezTo>
                <a:close/>
                <a:moveTo>
                  <a:pt x="330200" y="51594"/>
                </a:moveTo>
                <a:cubicBezTo>
                  <a:pt x="330200" y="45918"/>
                  <a:pt x="325557" y="41275"/>
                  <a:pt x="319881" y="41275"/>
                </a:cubicBezTo>
                <a:cubicBezTo>
                  <a:pt x="314206" y="41275"/>
                  <a:pt x="309563" y="45918"/>
                  <a:pt x="309563" y="51594"/>
                </a:cubicBezTo>
                <a:lnTo>
                  <a:pt x="309563" y="92869"/>
                </a:lnTo>
                <a:cubicBezTo>
                  <a:pt x="309563" y="98544"/>
                  <a:pt x="314206" y="103188"/>
                  <a:pt x="319881" y="103188"/>
                </a:cubicBezTo>
                <a:cubicBezTo>
                  <a:pt x="325557" y="103188"/>
                  <a:pt x="330200" y="98544"/>
                  <a:pt x="330200" y="92869"/>
                </a:cubicBezTo>
                <a:lnTo>
                  <a:pt x="330200" y="51594"/>
                </a:lnTo>
                <a:close/>
                <a:moveTo>
                  <a:pt x="330200" y="134144"/>
                </a:moveTo>
                <a:cubicBezTo>
                  <a:pt x="330200" y="128468"/>
                  <a:pt x="325557" y="123825"/>
                  <a:pt x="319881" y="123825"/>
                </a:cubicBezTo>
                <a:cubicBezTo>
                  <a:pt x="314206" y="123825"/>
                  <a:pt x="309563" y="128468"/>
                  <a:pt x="309563" y="134144"/>
                </a:cubicBezTo>
                <a:lnTo>
                  <a:pt x="309563" y="175419"/>
                </a:lnTo>
                <a:cubicBezTo>
                  <a:pt x="309563" y="181094"/>
                  <a:pt x="314206" y="185738"/>
                  <a:pt x="319881" y="185738"/>
                </a:cubicBezTo>
                <a:cubicBezTo>
                  <a:pt x="325557" y="185738"/>
                  <a:pt x="330200" y="181094"/>
                  <a:pt x="330200" y="175419"/>
                </a:cubicBezTo>
                <a:lnTo>
                  <a:pt x="330200" y="134144"/>
                </a:lnTo>
                <a:close/>
                <a:moveTo>
                  <a:pt x="319881" y="206375"/>
                </a:moveTo>
                <a:cubicBezTo>
                  <a:pt x="314206" y="206375"/>
                  <a:pt x="309563" y="211018"/>
                  <a:pt x="309563" y="216694"/>
                </a:cubicBezTo>
                <a:lnTo>
                  <a:pt x="309563" y="257969"/>
                </a:lnTo>
                <a:cubicBezTo>
                  <a:pt x="309563" y="263644"/>
                  <a:pt x="314206" y="268288"/>
                  <a:pt x="319881" y="268288"/>
                </a:cubicBezTo>
                <a:cubicBezTo>
                  <a:pt x="325557" y="268288"/>
                  <a:pt x="330200" y="263644"/>
                  <a:pt x="330200" y="257969"/>
                </a:cubicBezTo>
                <a:lnTo>
                  <a:pt x="330200" y="216694"/>
                </a:lnTo>
                <a:cubicBezTo>
                  <a:pt x="330200" y="211018"/>
                  <a:pt x="325557" y="206375"/>
                  <a:pt x="319881" y="206375"/>
                </a:cubicBezTo>
                <a:close/>
              </a:path>
            </a:pathLst>
          </a:custGeom>
          <a:solidFill>
            <a:srgbClr val="1B5E5E"/>
          </a:solidFill>
          <a:ln/>
        </p:spPr>
      </p:sp>
      <p:sp>
        <p:nvSpPr>
          <p:cNvPr id="28" name="Text 25"/>
          <p:cNvSpPr/>
          <p:nvPr/>
        </p:nvSpPr>
        <p:spPr>
          <a:xfrm>
            <a:off x="11506200" y="65024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Recepcionista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1049000" y="6985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Acesso a pacientes e agendamentos de consultas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62000" y="8255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B7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Universidade Kimpa Vita | Engenharia Informática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4732000" y="8255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B7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32000"/>
            <a:ext cx="381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62000" y="3683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Conclusão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4445000"/>
            <a:ext cx="1016000" cy="5080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4699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Consideracoes finais e trabalhos futuros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1B5E5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63D3D"/>
          </a:solidFill>
          <a:ln/>
        </p:spPr>
      </p:sp>
      <p:sp>
        <p:nvSpPr>
          <p:cNvPr id="3" name="Shape 1"/>
          <p:cNvSpPr/>
          <p:nvPr/>
        </p:nvSpPr>
        <p:spPr>
          <a:xfrm>
            <a:off x="14224000" y="76200"/>
            <a:ext cx="1905000" cy="381000"/>
          </a:xfrm>
          <a:prstGeom prst="rect">
            <a:avLst/>
          </a:prstGeom>
          <a:solidFill>
            <a:srgbClr val="FFFFFF">
              <a:alpha val="12549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270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Introdução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4765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Objetivos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260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Fundamentação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755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Requisitos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Modelagem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74500" y="762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Estrutura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224000" y="7620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Conclusão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7874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Conclusão e Trabalhos Futuros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346200"/>
            <a:ext cx="635000" cy="3810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165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Conclusão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2095500"/>
            <a:ext cx="711200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2000" y="2095500"/>
            <a:ext cx="50800" cy="38100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500" y="2222500"/>
            <a:ext cx="6477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desenvolvimento permitiu aplicar na prática conceitos de: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Programação Orientada a Objetos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Arquitetura MVC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Padrão DAO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Interfaces gráficas com Java Swing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sistema </a:t>
            </a:r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cumpre todos os objetivos</a:t>
            </a:r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definidos, permitindo gerir pacientes, médicos, consultas e prontuários com diferentes níveis de acesso.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82000" y="1651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C855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Trabalhos Futuros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382000" y="2095500"/>
            <a:ext cx="711200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82000" y="2095500"/>
            <a:ext cx="50800" cy="381000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20" name="Text 18"/>
          <p:cNvSpPr/>
          <p:nvPr/>
        </p:nvSpPr>
        <p:spPr>
          <a:xfrm>
            <a:off x="8699500" y="2222500"/>
            <a:ext cx="6477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C855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Relatórios em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PDF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C855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Envio de </a:t>
            </a:r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lembretes de consultas</a:t>
            </a:r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por email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C855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Módulo </a:t>
            </a:r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financeiro</a:t>
            </a:r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(faturação e pagamentos)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C855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Acesso via </a:t>
            </a:r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</a:t>
            </a:r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(aplicação web)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C855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Integração com </a:t>
            </a:r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prontuário eletrónico</a:t>
            </a:r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nacional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5969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Referências Bibliográficas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2000" y="6540500"/>
            <a:ext cx="1473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[1] DEITEL, P.; DEITEL, H. </a:t>
            </a:r>
            <a:pPr algn="l">
              <a:lnSpc>
                <a:spcPct val="170000"/>
              </a:lnSpc>
            </a:pPr>
            <a:r>
              <a:rPr lang="en-US" sz="1200" i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Java: Como Programar</a:t>
            </a:r>
            <a:pPr algn="l">
              <a:lnSpc>
                <a:spcPct val="17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10. ed. São Paulo: Pearson, 2017.</a:t>
            </a:r>
            <a:endParaRPr lang="en-US" sz="1200" dirty="0"/>
          </a:p>
          <a:p>
            <a:pPr algn="l">
              <a:lnSpc>
                <a:spcPct val="17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[2] GAMMA, E. et al. </a:t>
            </a:r>
            <a:pPr algn="l">
              <a:lnSpc>
                <a:spcPct val="170000"/>
              </a:lnSpc>
            </a:pPr>
            <a:r>
              <a:rPr lang="en-US" sz="1200" i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Padrões de Projeto: Soluções Reutilizáveis</a:t>
            </a:r>
            <a:pPr algn="l">
              <a:lnSpc>
                <a:spcPct val="17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Porto Alegre: Bookman, 2000.</a:t>
            </a:r>
            <a:endParaRPr lang="en-US" sz="1200" dirty="0"/>
          </a:p>
          <a:p>
            <a:pPr algn="l">
              <a:lnSpc>
                <a:spcPct val="17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[3] SILBERSCHATZ, A.; KORTH, H. F.; SUDARSHAN, S. </a:t>
            </a:r>
            <a:pPr algn="l">
              <a:lnSpc>
                <a:spcPct val="170000"/>
              </a:lnSpc>
            </a:pPr>
            <a:r>
              <a:rPr lang="en-US" sz="1200" i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Sistema de Banco de Dados</a:t>
            </a:r>
            <a:pPr algn="l">
              <a:lnSpc>
                <a:spcPct val="17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6. ed. Rio de Janeiro: Elsevier, 2012.</a:t>
            </a:r>
            <a:endParaRPr lang="en-US" sz="1200" dirty="0"/>
          </a:p>
          <a:p>
            <a:pPr algn="l">
              <a:lnSpc>
                <a:spcPct val="17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[4] PRESSMAN, R. S. </a:t>
            </a:r>
            <a:pPr algn="l">
              <a:lnSpc>
                <a:spcPct val="170000"/>
              </a:lnSpc>
            </a:pPr>
            <a:r>
              <a:rPr lang="en-US" sz="1200" i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Engenharia de Software: Uma Abordagem Profissional</a:t>
            </a:r>
            <a:pPr algn="l">
              <a:lnSpc>
                <a:spcPct val="17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8. ed. Porto Alegre: AMGH, 2016.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62000" y="8255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B7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Universidade Kimpa Vita | Engenharia Informática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732000" y="8255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B7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048000"/>
            <a:ext cx="2540000" cy="5080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3" name="Text 1"/>
          <p:cNvSpPr/>
          <p:nvPr/>
        </p:nvSpPr>
        <p:spPr>
          <a:xfrm>
            <a:off x="3048000" y="3429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Obrigado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048000" y="457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Sistema de Gestão de Clínica Médica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223000" y="5334000"/>
            <a:ext cx="3810000" cy="127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048000" y="558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Universidade Kimpa Vita | Engenharia Informática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Línguagem de Programação IV | 2026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1B5E5E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Gestão de Clínica Médica</dc:title>
  <dc:subject>Sistema de Gestão de Clínica Médica</dc:subject>
  <dc:creator>Kimi</dc:creator>
  <cp:lastModifiedBy>Kimi</cp:lastModifiedBy>
  <cp:revision>1</cp:revision>
  <dcterms:created xsi:type="dcterms:W3CDTF">2026-06-17T16:29:32Z</dcterms:created>
  <dcterms:modified xsi:type="dcterms:W3CDTF">2026-06-17T16:29:32Z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{"Label":"Sistema de Gestão de Clínica Médica","ContentProducer":"001191110108MACG2KBH8F10000","ProduceID":"19ed6320-2932-8037-8000-000052f11440","ReservedCode1":"","ContentPropagator":"001191110108MACG2KBH8F20000","PropagateID":"19ed62fc-39d2-839e-8000-09b3fc4c29f4","ReservedCode2":""}</vt:lpwstr>
  </property>
</Properties>
</file>